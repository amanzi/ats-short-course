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692" r:id="rId3"/>
    <p:sldId id="712" r:id="rId4"/>
    <p:sldId id="713" r:id="rId5"/>
    <p:sldId id="714" r:id="rId6"/>
    <p:sldId id="715" r:id="rId7"/>
    <p:sldId id="69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6E4A"/>
    <a:srgbClr val="6B5032"/>
    <a:srgbClr val="3F6E35"/>
    <a:srgbClr val="71A2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9"/>
    <p:restoredTop sz="94626"/>
  </p:normalViewPr>
  <p:slideViewPr>
    <p:cSldViewPr snapToGrid="0" snapToObjects="1">
      <p:cViewPr>
        <p:scale>
          <a:sx n="100" d="100"/>
          <a:sy n="100" d="100"/>
        </p:scale>
        <p:origin x="664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850F1D-2399-884F-82AF-DB8DD6B93CDC}" type="datetimeFigureOut">
              <a:rPr lang="en-US" smtClean="0"/>
              <a:t>9/3/25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54F9F-3A72-3B44-8EE5-8F471E38F4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47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D54F9F-3A72-3B44-8EE5-8F471E38F4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19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3D17-8D20-8640-8AFA-64C20E914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902" y="2227866"/>
            <a:ext cx="11372196" cy="1329721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C72031-FD30-9643-8CB7-B95CA0CEC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9902" y="3611452"/>
            <a:ext cx="11372196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6B642-59AE-2442-84FD-7AE8E8AC5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3E824D4-F2D7-CE47-A23E-36588576BF4F}"/>
              </a:ext>
            </a:extLst>
          </p:cNvPr>
          <p:cNvCxnSpPr>
            <a:cxnSpLocks/>
          </p:cNvCxnSpPr>
          <p:nvPr userDrawn="1"/>
        </p:nvCxnSpPr>
        <p:spPr>
          <a:xfrm flipH="1">
            <a:off x="-84082" y="1954924"/>
            <a:ext cx="12444248" cy="0"/>
          </a:xfrm>
          <a:prstGeom prst="line">
            <a:avLst/>
          </a:prstGeom>
          <a:ln w="635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FD503E-B97A-5341-953D-072BC0488E35}"/>
              </a:ext>
            </a:extLst>
          </p:cNvPr>
          <p:cNvCxnSpPr>
            <a:cxnSpLocks/>
          </p:cNvCxnSpPr>
          <p:nvPr userDrawn="1"/>
        </p:nvCxnSpPr>
        <p:spPr>
          <a:xfrm flipH="1">
            <a:off x="-84082" y="2064462"/>
            <a:ext cx="12444248" cy="0"/>
          </a:xfrm>
          <a:prstGeom prst="line">
            <a:avLst/>
          </a:prstGeom>
          <a:ln w="635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8C7EA8-805D-704D-9C46-7A2B88FA389E}"/>
              </a:ext>
            </a:extLst>
          </p:cNvPr>
          <p:cNvCxnSpPr>
            <a:cxnSpLocks/>
          </p:cNvCxnSpPr>
          <p:nvPr userDrawn="1"/>
        </p:nvCxnSpPr>
        <p:spPr>
          <a:xfrm flipH="1">
            <a:off x="-84082" y="2174000"/>
            <a:ext cx="12444248" cy="0"/>
          </a:xfrm>
          <a:prstGeom prst="line">
            <a:avLst/>
          </a:prstGeom>
          <a:ln w="635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5A4CB026-A1EC-6944-B19B-95B9848E041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46176" y="239814"/>
            <a:ext cx="7635922" cy="198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255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B4565-C881-2745-AE7B-0305281D1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4921-C005-284D-BC0E-A9C93F0C3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9D9D8-F842-5F43-93EC-D26289952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88282"/>
            <a:ext cx="2743200" cy="365125"/>
          </a:xfrm>
        </p:spPr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8C1158E0-B140-1C49-BB57-66D55A4819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517392-EF32-1B4A-B887-591E79824361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066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7315CF-E85C-E644-B0BA-BEC309082D38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835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A46F9F-3DFE-9A40-BE11-887E328766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592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5269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07E68-4DC4-FA49-9A24-E408AB378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5567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9FAB4-73C5-9845-854F-0E816D0E7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896628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1B8D1-62D1-664B-80A1-47BFB9882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342125-3367-694C-AC3A-9611DBFCD620}"/>
              </a:ext>
            </a:extLst>
          </p:cNvPr>
          <p:cNvCxnSpPr>
            <a:cxnSpLocks/>
          </p:cNvCxnSpPr>
          <p:nvPr userDrawn="1"/>
        </p:nvCxnSpPr>
        <p:spPr>
          <a:xfrm flipH="1">
            <a:off x="-20582" y="3568014"/>
            <a:ext cx="12444248" cy="0"/>
          </a:xfrm>
          <a:prstGeom prst="line">
            <a:avLst/>
          </a:prstGeom>
          <a:ln w="635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73C6AC-C89B-A04D-B3FD-8933B8220072}"/>
              </a:ext>
            </a:extLst>
          </p:cNvPr>
          <p:cNvCxnSpPr>
            <a:cxnSpLocks/>
          </p:cNvCxnSpPr>
          <p:nvPr userDrawn="1"/>
        </p:nvCxnSpPr>
        <p:spPr>
          <a:xfrm flipH="1">
            <a:off x="-20582" y="3677552"/>
            <a:ext cx="12444248" cy="0"/>
          </a:xfrm>
          <a:prstGeom prst="line">
            <a:avLst/>
          </a:prstGeom>
          <a:ln w="635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D58F22-2868-114C-8991-4E8A85642E7D}"/>
              </a:ext>
            </a:extLst>
          </p:cNvPr>
          <p:cNvCxnSpPr>
            <a:cxnSpLocks/>
          </p:cNvCxnSpPr>
          <p:nvPr userDrawn="1"/>
        </p:nvCxnSpPr>
        <p:spPr>
          <a:xfrm flipH="1">
            <a:off x="-20582" y="3787090"/>
            <a:ext cx="12444248" cy="0"/>
          </a:xfrm>
          <a:prstGeom prst="line">
            <a:avLst/>
          </a:prstGeom>
          <a:ln w="635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E23505FE-FBD4-8A49-B01B-6B77333915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5385702"/>
            <a:ext cx="5391524" cy="140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73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AD78-92AE-DA49-B5F5-3862B41F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1E022-2221-0049-8A6F-B69883F9F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7A401-0407-3A4E-AF10-8D7D21A21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1C684-159A-6649-935A-5644D6D1D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E879C285-E6DE-C849-9CB2-8F06D0956F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BEBEBA-BDB3-FF43-B0EB-2C659B4EFBAC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6C92EEB-FA32-9340-9A19-08F29B24A380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35F12F-BA9C-EE40-AB2E-B02DE040ACE8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30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69B30-3E3B-3E47-8C1D-90EE1AD7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6A8830-69C4-7548-8A18-DB6EEC235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ACDEC3-8E5C-9849-82EE-31949FDF7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79C10-9BBC-3042-BBDB-8DE500EE9A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8D187-7EF6-3F49-9463-F9CA1B0CA0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EE1A8-6010-4546-B9FE-5237749C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4C0FEAF6-3D3C-A145-88E2-A2C07B7892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92DA9C-ADAF-4D40-8921-719E20F03DD9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C86DE51-DCB8-0F4F-B754-F27101BB9F38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653AC4-4736-A544-9859-499E8BC0CF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23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3891-B5EA-D84F-85DA-BB5C8E4B4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CCB9A-D2BE-E24A-ABA4-D3F058176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BE7C83BC-4CA0-9A47-8C49-E428365DA4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48DF37-D370-EC45-B41A-3A248C580C0A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8A1CC7-A92E-554C-BBE7-30C6AD38DC7F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C99D8B-F8C1-6946-83A0-680C797743B0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899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D99330-3866-D74B-A43B-9B2FB09F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559A9AA0-3DFF-CF4E-9168-8C17D3A304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3F49BE2-616C-8341-B659-89D425452D57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CF333E-E6F6-4C4D-9505-6DCC2EC8E210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851D29-7AFB-7648-8A7D-D56DD6524E09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6303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BFFD6-80D0-EF49-B105-EEE3A6BC7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866FB-0514-2644-A883-1DA61F0D8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53E22F-36D9-7949-A476-098F92A8C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EC97E-6B30-1C4B-955C-DA460062A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F4C5083F-B6EF-294F-A320-4726C321D34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30B4FBA-7050-924F-AC27-E30AEDDDF8C4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13B97BA-36AC-2E45-8235-E8535F9B11CA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755994-9FFA-044E-B8C9-5B8A5EA642A7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13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0D15-F612-3F4C-83F5-D83FFBA38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D4F7F4-5402-7844-99D8-E4C531D7DB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16731-A9FA-9F4D-9559-AD665D5B1E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F70B1-E6BD-734B-B146-FEAA4C96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85BF69B-1F80-074D-B374-4DD091AC76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5F18A07-FA13-E044-9CEF-8E6B6C331B25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34E5B0-AA7E-E447-8AD5-3D04348BC4A6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2AAB7C-A39E-4A46-BC02-C43759249951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89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07E99-E1BC-3641-9EE3-BB5FBD795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44286-2101-BC4C-B17D-D9EFB04B2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D7433-A6CE-B34F-9CB0-4F76F33C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2732685-DCB2-6240-836C-6713FA944C5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E3C1CA-9220-1848-99B3-1B82F34D8A19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17987A-CEF6-BB4E-A5C5-22BA936D85AA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986916-7F77-594E-8828-D541F0747D57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3564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FB6E50-EF73-D143-ABCB-A18C2DE04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BB2CF7-7C6C-064C-A3FC-0281ED7381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BF6BA-1D90-A842-9C10-2F765D20A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03D36005-E914-3D41-919D-18CB97F147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6412" y="6205123"/>
            <a:ext cx="2210457" cy="575504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0A55947-1FF9-B644-866B-2ED34C78BEA0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493964"/>
            <a:ext cx="8189326" cy="0"/>
          </a:xfrm>
          <a:prstGeom prst="line">
            <a:avLst/>
          </a:prstGeom>
          <a:ln w="38100">
            <a:solidFill>
              <a:srgbClr val="71A2C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109509-2E60-BA46-AA42-3A7BC303AF96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570845"/>
            <a:ext cx="8189326" cy="0"/>
          </a:xfrm>
          <a:prstGeom prst="line">
            <a:avLst/>
          </a:prstGeom>
          <a:ln w="38100">
            <a:solidFill>
              <a:srgbClr val="3F6E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85AE987-6CB9-714B-B85F-D587ABB7B53A}"/>
              </a:ext>
            </a:extLst>
          </p:cNvPr>
          <p:cNvCxnSpPr>
            <a:cxnSpLocks/>
          </p:cNvCxnSpPr>
          <p:nvPr userDrawn="1"/>
        </p:nvCxnSpPr>
        <p:spPr>
          <a:xfrm flipH="1">
            <a:off x="2546407" y="6646517"/>
            <a:ext cx="8189326" cy="0"/>
          </a:xfrm>
          <a:prstGeom prst="line">
            <a:avLst/>
          </a:prstGeom>
          <a:ln w="38100">
            <a:solidFill>
              <a:srgbClr val="8B6E4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7332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7" y="274320"/>
            <a:ext cx="11430000" cy="539496"/>
          </a:xfrm>
        </p:spPr>
        <p:txBody>
          <a:bodyPr/>
          <a:lstStyle>
            <a:lvl1pPr>
              <a:lnSpc>
                <a:spcPct val="90000"/>
              </a:lnSpc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055" y="1653735"/>
            <a:ext cx="11430000" cy="4047778"/>
          </a:xfrm>
        </p:spPr>
        <p:txBody>
          <a:bodyPr/>
          <a:lstStyle>
            <a:lvl1pPr marL="288925" indent="-288925">
              <a:spcBef>
                <a:spcPts val="1800"/>
              </a:spcBef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defRPr lang="en-US" sz="2800" kern="1200" dirty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cs"/>
              </a:defRPr>
            </a:lvl1pPr>
            <a:lvl2pPr marL="687388" indent="-288925">
              <a:buClr>
                <a:schemeClr val="tx1"/>
              </a:buClr>
              <a:buSzPct val="90000"/>
              <a:buFont typeface="Century Gothic" panose="020B0502020202020204" pitchFamily="34" charset="0"/>
              <a:buChar char="–"/>
              <a:defRPr>
                <a:latin typeface="+mn-lt"/>
                <a:cs typeface="Arial" panose="020B0604020202020204" pitchFamily="34" charset="0"/>
              </a:defRPr>
            </a:lvl2pPr>
            <a:lvl3pPr marL="1031875" indent="-288925">
              <a:buClr>
                <a:schemeClr val="tx1"/>
              </a:buClr>
              <a:buSzPct val="90000"/>
              <a:buFont typeface="Century Gothic" panose="020B0502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3pPr>
            <a:lvl4pPr>
              <a:buClr>
                <a:schemeClr val="tx1"/>
              </a:buClr>
              <a:defRPr>
                <a:latin typeface="+mn-lt"/>
                <a:cs typeface="Arial" panose="020B0604020202020204" pitchFamily="34" charset="0"/>
              </a:defRPr>
            </a:lvl4pPr>
            <a:lvl5pPr marL="1482725" indent="-222250">
              <a:buClr>
                <a:schemeClr val="tx1"/>
              </a:buClr>
              <a:buFont typeface="Arial" panose="020B0604020202020204" pitchFamily="34" charset="0"/>
              <a:buChar char="•"/>
              <a:defRPr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94923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5872BD-AD1F-7D48-A18B-412D6C5E0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7F1F3C-4F81-B842-91D0-48CAA129A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E69D4-2DFC-DB44-A484-1A2E18D6BC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2C021-0C65-A14F-AE8E-3613BEE67D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83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vironmental-modeling-workflows.github.io/watershed-workflow/" TargetMode="Externa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nvironmental-modeling-workflows/watershed-workflow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coon/ats_input_spec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6AEA1-E96B-F645-AD6B-FAF6198406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Setup &amp; Watershed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536D47-9ED6-CA4A-B77A-EFE589D226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Saubhayga</a:t>
            </a:r>
            <a:r>
              <a:rPr lang="en-US" dirty="0"/>
              <a:t> Rathore, Pin Shuai, and Ethan Coon</a:t>
            </a:r>
          </a:p>
        </p:txBody>
      </p:sp>
    </p:spTree>
    <p:extLst>
      <p:ext uri="{BB962C8B-B14F-4D97-AF65-F5344CB8AC3E}">
        <p14:creationId xmlns:p14="http://schemas.microsoft.com/office/powerpoint/2010/main" val="836939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1C155-5933-3490-0AFD-D861F0E0F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32C11D-F2DF-EA34-92DB-48EDBB2DE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>
                <a:solidFill>
                  <a:srgbClr val="1F2328"/>
                </a:solidFill>
                <a:latin typeface="Century Gothic" panose="020B0502020202020204" pitchFamily="34" charset="0"/>
              </a:rPr>
              <a:t>Overview of WW, its significance in watershed modeling and analysis, and understanding its interface and basic functionalities.</a:t>
            </a:r>
            <a:endParaRPr lang="en-US" dirty="0">
              <a:latin typeface="Century Gothic" panose="020B0502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506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23B0E-6D7E-3743-B761-4CF13A9A6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77" y="320041"/>
            <a:ext cx="11372473" cy="535531"/>
          </a:xfrm>
        </p:spPr>
        <p:txBody>
          <a:bodyPr>
            <a:normAutofit fontScale="90000"/>
          </a:bodyPr>
          <a:lstStyle/>
          <a:p>
            <a:r>
              <a:rPr lang="en-US"/>
              <a:t>Watershed 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2DB48D-BE09-8D44-B531-EE6736F859C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712" y="2616877"/>
            <a:ext cx="10972801" cy="29151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EA9EA6-FB79-3048-994D-A53A4F6DA1B8}"/>
              </a:ext>
            </a:extLst>
          </p:cNvPr>
          <p:cNvSpPr txBox="1"/>
          <p:nvPr/>
        </p:nvSpPr>
        <p:spPr>
          <a:xfrm>
            <a:off x="579643" y="863678"/>
            <a:ext cx="7532832" cy="3416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latin typeface="Arial"/>
                <a:cs typeface="Arial"/>
                <a:hlinkClick r:id="rId3"/>
              </a:rPr>
              <a:t>https://environmental-modeling-workflows.github.io/watershed-workflow/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AE12A4-7147-B14F-99C3-6B02457E139A}"/>
              </a:ext>
            </a:extLst>
          </p:cNvPr>
          <p:cNvSpPr txBox="1"/>
          <p:nvPr/>
        </p:nvSpPr>
        <p:spPr>
          <a:xfrm>
            <a:off x="5420238" y="5614495"/>
            <a:ext cx="3967816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err="1"/>
              <a:t>Coweeta</a:t>
            </a:r>
            <a:r>
              <a:rPr lang="en-US"/>
              <a:t> Hydrologic Laboratory</a:t>
            </a:r>
          </a:p>
          <a:p>
            <a:pPr algn="ctr">
              <a:lnSpc>
                <a:spcPct val="90000"/>
              </a:lnSpc>
            </a:pPr>
            <a:r>
              <a:rPr lang="en-US"/>
              <a:t>https://</a:t>
            </a:r>
            <a:r>
              <a:rPr lang="en-US" err="1"/>
              <a:t>www.srs.fs.usda.gov</a:t>
            </a:r>
            <a:r>
              <a:rPr lang="en-US"/>
              <a:t>/</a:t>
            </a:r>
            <a:r>
              <a:rPr lang="en-US" err="1"/>
              <a:t>coweeta</a:t>
            </a:r>
            <a:r>
              <a:rPr lang="en-US"/>
              <a:t>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B47444-AE02-AE46-A397-FFE8EAC52EBE}"/>
              </a:ext>
            </a:extLst>
          </p:cNvPr>
          <p:cNvSpPr txBox="1"/>
          <p:nvPr/>
        </p:nvSpPr>
        <p:spPr>
          <a:xfrm>
            <a:off x="579438" y="1391103"/>
            <a:ext cx="8917826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>
                <a:latin typeface="+mn-lt"/>
              </a:rPr>
              <a:t>The data to parameterize &lt;100m resolution models are increasingly available, </a:t>
            </a:r>
            <a:br>
              <a:rPr lang="en-US">
                <a:latin typeface="+mn-lt"/>
              </a:rPr>
            </a:br>
            <a:r>
              <a:rPr lang="en-US">
                <a:latin typeface="+mn-lt"/>
              </a:rPr>
              <a:t>but not necessarily easy to get or work with.</a:t>
            </a:r>
          </a:p>
          <a:p>
            <a:pPr algn="l">
              <a:lnSpc>
                <a:spcPct val="90000"/>
              </a:lnSpc>
            </a:pPr>
            <a:endParaRPr lang="en-US">
              <a:latin typeface="+mn-lt"/>
            </a:endParaRPr>
          </a:p>
          <a:p>
            <a:pPr algn="l">
              <a:lnSpc>
                <a:spcPct val="90000"/>
              </a:lnSpc>
            </a:pPr>
            <a:r>
              <a:rPr lang="en-US">
                <a:latin typeface="+mn-lt"/>
              </a:rPr>
              <a:t>Can we automate a “first simulation” in any watershed in the US?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7C1972-2C74-8A4D-AEB8-6D4458B64D5C}"/>
              </a:ext>
            </a:extLst>
          </p:cNvPr>
          <p:cNvSpPr txBox="1"/>
          <p:nvPr/>
        </p:nvSpPr>
        <p:spPr>
          <a:xfrm>
            <a:off x="9177224" y="246174"/>
            <a:ext cx="2836033" cy="5909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>
                <a:latin typeface="+mn-lt"/>
              </a:rPr>
              <a:t>Coon &amp; Shuai, (2022)</a:t>
            </a:r>
          </a:p>
          <a:p>
            <a:pPr algn="r">
              <a:lnSpc>
                <a:spcPct val="90000"/>
              </a:lnSpc>
            </a:pPr>
            <a:r>
              <a:rPr lang="en-US">
                <a:latin typeface="+mn-lt"/>
              </a:rPr>
              <a:t>@ Env. Model. Software</a:t>
            </a:r>
          </a:p>
        </p:txBody>
      </p:sp>
    </p:spTree>
    <p:extLst>
      <p:ext uri="{BB962C8B-B14F-4D97-AF65-F5344CB8AC3E}">
        <p14:creationId xmlns:p14="http://schemas.microsoft.com/office/powerpoint/2010/main" val="2607879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6DCFDB02-FF7C-825C-9468-AC8C09BCCFE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78147" y="0"/>
            <a:ext cx="7036440" cy="3563957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30B7669-7062-2EAA-88B1-2F0ADD895033}"/>
              </a:ext>
            </a:extLst>
          </p:cNvPr>
          <p:cNvGrpSpPr/>
          <p:nvPr/>
        </p:nvGrpSpPr>
        <p:grpSpPr>
          <a:xfrm>
            <a:off x="91810" y="2974553"/>
            <a:ext cx="6320008" cy="4580783"/>
            <a:chOff x="1656204" y="1288974"/>
            <a:chExt cx="8271826" cy="5792638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2C62FF5-C85C-3DDC-6528-5A303CA9CC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7781" r="12115" b="5673"/>
            <a:stretch/>
          </p:blipFill>
          <p:spPr>
            <a:xfrm>
              <a:off x="1656204" y="1288974"/>
              <a:ext cx="4821716" cy="4748269"/>
            </a:xfrm>
            <a:prstGeom prst="rect">
              <a:avLst/>
            </a:prstGeom>
          </p:spPr>
        </p:pic>
        <p:pic>
          <p:nvPicPr>
            <p:cNvPr id="13" name="Picture 12" descr="Map&#10;&#10;Description automatically generated">
              <a:extLst>
                <a:ext uri="{FF2B5EF4-FFF2-40B4-BE49-F238E27FC236}">
                  <a16:creationId xmlns:a16="http://schemas.microsoft.com/office/drawing/2014/main" id="{2F580DD6-651A-2FF2-31A9-ED17A51AE3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1597" r="19545"/>
            <a:stretch/>
          </p:blipFill>
          <p:spPr>
            <a:xfrm>
              <a:off x="3156333" y="1336316"/>
              <a:ext cx="4821716" cy="5298071"/>
            </a:xfrm>
            <a:prstGeom prst="rect">
              <a:avLst/>
            </a:prstGeom>
          </p:spPr>
        </p:pic>
        <p:pic>
          <p:nvPicPr>
            <p:cNvPr id="11" name="Picture 10" descr="Map&#10;&#10;Description automatically generated">
              <a:extLst>
                <a:ext uri="{FF2B5EF4-FFF2-40B4-BE49-F238E27FC236}">
                  <a16:creationId xmlns:a16="http://schemas.microsoft.com/office/drawing/2014/main" id="{92648188-3CF3-ADA4-84EF-143A41DBCA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alphaModFix/>
            </a:blip>
            <a:srcRect t="17018" r="28581"/>
            <a:stretch/>
          </p:blipFill>
          <p:spPr>
            <a:xfrm>
              <a:off x="4983297" y="1336316"/>
              <a:ext cx="4944733" cy="5745296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6488335-1D5B-07F5-9216-FEAAB7B668E0}"/>
              </a:ext>
            </a:extLst>
          </p:cNvPr>
          <p:cNvSpPr txBox="1"/>
          <p:nvPr/>
        </p:nvSpPr>
        <p:spPr>
          <a:xfrm>
            <a:off x="605928" y="1205168"/>
            <a:ext cx="4549337" cy="1690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Downloads NHDPlus, 3DEP, NRCS, </a:t>
            </a:r>
            <a:r>
              <a:rPr lang="en-US" dirty="0" err="1">
                <a:latin typeface="+mn-lt"/>
              </a:rPr>
              <a:t>SoilGrids</a:t>
            </a:r>
            <a:r>
              <a:rPr lang="en-US" dirty="0">
                <a:latin typeface="+mn-lt"/>
              </a:rPr>
              <a:t>, GLHYMPS, MODIS, NLCD, and AORC data on a given HUC or watershed shape</a:t>
            </a:r>
          </a:p>
          <a:p>
            <a:pPr marL="285750" indent="-28575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Algorithms for pit-filling, DEM smoothing, unstructured mesh generation</a:t>
            </a:r>
          </a:p>
          <a:p>
            <a:pPr>
              <a:lnSpc>
                <a:spcPct val="90000"/>
              </a:lnSpc>
            </a:pPr>
            <a:endParaRPr lang="en-US" dirty="0">
              <a:latin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023D59-5B3E-E4DE-F92C-E25C340957A7}"/>
              </a:ext>
            </a:extLst>
          </p:cNvPr>
          <p:cNvSpPr txBox="1"/>
          <p:nvPr/>
        </p:nvSpPr>
        <p:spPr>
          <a:xfrm>
            <a:off x="6761706" y="3856347"/>
            <a:ext cx="4549337" cy="24899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Generates an </a:t>
            </a:r>
            <a:r>
              <a:rPr lang="en-US" dirty="0" err="1">
                <a:latin typeface="+mj-lt"/>
              </a:rPr>
              <a:t>ExodusII</a:t>
            </a:r>
            <a:r>
              <a:rPr lang="en-US" dirty="0">
                <a:latin typeface="+mj-lt"/>
              </a:rPr>
              <a:t> mesh including all needed regions</a:t>
            </a:r>
          </a:p>
          <a:p>
            <a:pPr marL="285750" indent="-28575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Integrates with ATS to write input files for integrated hydrology</a:t>
            </a:r>
          </a:p>
          <a:p>
            <a:pPr marL="285750" indent="-28575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Completely* automated – provide a shapefile and a few parameters and let it run</a:t>
            </a:r>
          </a:p>
          <a:p>
            <a:pPr marL="285750" indent="-285750">
              <a:lnSpc>
                <a:spcPct val="9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Very customizable – edit the data as needed and change it to fit your model experiment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E04B13C-D9AF-E832-9B92-F9115BF10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77" y="320041"/>
            <a:ext cx="11372473" cy="535531"/>
          </a:xfrm>
        </p:spPr>
        <p:txBody>
          <a:bodyPr>
            <a:normAutofit fontScale="90000"/>
          </a:bodyPr>
          <a:lstStyle/>
          <a:p>
            <a:r>
              <a:rPr lang="en-US"/>
              <a:t>Default Workflow</a:t>
            </a:r>
          </a:p>
        </p:txBody>
      </p:sp>
    </p:spTree>
    <p:extLst>
      <p:ext uri="{BB962C8B-B14F-4D97-AF65-F5344CB8AC3E}">
        <p14:creationId xmlns:p14="http://schemas.microsoft.com/office/powerpoint/2010/main" val="2202862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23B0E-6D7E-3743-B761-4CF13A9A6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877" y="320041"/>
            <a:ext cx="11372473" cy="535531"/>
          </a:xfrm>
        </p:spPr>
        <p:txBody>
          <a:bodyPr>
            <a:normAutofit fontScale="90000"/>
          </a:bodyPr>
          <a:lstStyle/>
          <a:p>
            <a:r>
              <a:rPr lang="en-US"/>
              <a:t>Watershed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A9EA6-FB79-3048-994D-A53A4F6DA1B8}"/>
              </a:ext>
            </a:extLst>
          </p:cNvPr>
          <p:cNvSpPr txBox="1"/>
          <p:nvPr/>
        </p:nvSpPr>
        <p:spPr>
          <a:xfrm>
            <a:off x="4466807" y="86231"/>
            <a:ext cx="7725193" cy="341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>
                <a:hlinkClick r:id="rId3"/>
              </a:rPr>
              <a:t>https://github.com/environmental-modeling-workflows/watershed-workflow</a:t>
            </a:r>
            <a:r>
              <a:rPr lang="en-US"/>
              <a:t>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6CC386-E40F-7247-B5AF-BF6663721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095" y="1026388"/>
            <a:ext cx="11369809" cy="4047778"/>
          </a:xfrm>
        </p:spPr>
        <p:txBody>
          <a:bodyPr/>
          <a:lstStyle/>
          <a:p>
            <a:pPr>
              <a:spcBef>
                <a:spcPts val="1000"/>
              </a:spcBef>
            </a:pPr>
            <a:r>
              <a:rPr lang="en-US" sz="2000" dirty="0">
                <a:latin typeface="+mj-lt"/>
              </a:rPr>
              <a:t>A python package and a collection of </a:t>
            </a:r>
            <a:r>
              <a:rPr lang="en-US" sz="2000" dirty="0" err="1">
                <a:latin typeface="+mj-lt"/>
              </a:rPr>
              <a:t>Jupyter</a:t>
            </a:r>
            <a:r>
              <a:rPr lang="en-US" sz="2000" dirty="0">
                <a:latin typeface="+mj-lt"/>
              </a:rPr>
              <a:t> notebooks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latin typeface="+mj-lt"/>
              </a:rPr>
              <a:t>Deployed via docker or </a:t>
            </a:r>
            <a:r>
              <a:rPr lang="en-US" sz="2000" dirty="0" err="1">
                <a:latin typeface="+mj-lt"/>
              </a:rPr>
              <a:t>conda</a:t>
            </a:r>
            <a:r>
              <a:rPr lang="en-US" sz="2000" dirty="0">
                <a:latin typeface="+mj-lt"/>
              </a:rPr>
              <a:t> environment*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latin typeface="+mj-lt"/>
              </a:rPr>
              <a:t>Continuous Integration tests libraries and notebooks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latin typeface="+mj-lt"/>
              </a:rPr>
              <a:t>Papermill enables scripting for many watersheds</a:t>
            </a:r>
          </a:p>
          <a:p>
            <a:pPr>
              <a:spcBef>
                <a:spcPts val="1000"/>
              </a:spcBef>
            </a:pPr>
            <a:r>
              <a:rPr lang="en-US" sz="2000" dirty="0">
                <a:latin typeface="+mj-lt"/>
              </a:rPr>
              <a:t>A growing community of users and developers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CC077B-9761-EBA3-EDDD-39A8D8C2D3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285" y="3355975"/>
            <a:ext cx="6438900" cy="3352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91B1B9-EFB6-D27E-E93E-2E1E9666098D}"/>
              </a:ext>
            </a:extLst>
          </p:cNvPr>
          <p:cNvSpPr txBox="1"/>
          <p:nvPr/>
        </p:nvSpPr>
        <p:spPr>
          <a:xfrm>
            <a:off x="345877" y="3270956"/>
            <a:ext cx="1823961" cy="30839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/>
              <a:t>SETx</a:t>
            </a:r>
            <a:r>
              <a:rPr lang="en-US" dirty="0"/>
              <a:t>-UIFL,</a:t>
            </a:r>
          </a:p>
          <a:p>
            <a:pPr>
              <a:lnSpc>
                <a:spcPct val="90000"/>
              </a:lnSpc>
            </a:pPr>
            <a:r>
              <a:rPr lang="en-US" dirty="0"/>
              <a:t>PacWest Testbed,</a:t>
            </a:r>
          </a:p>
          <a:p>
            <a:pPr>
              <a:lnSpc>
                <a:spcPct val="90000"/>
              </a:lnSpc>
            </a:pPr>
            <a:r>
              <a:rPr lang="en-US" dirty="0"/>
              <a:t>IDEAS,</a:t>
            </a:r>
          </a:p>
          <a:p>
            <a:pPr algn="l">
              <a:lnSpc>
                <a:spcPct val="90000"/>
              </a:lnSpc>
            </a:pPr>
            <a:r>
              <a:rPr lang="en-US" dirty="0" err="1">
                <a:latin typeface="+mn-lt"/>
              </a:rPr>
              <a:t>InteRFACE</a:t>
            </a:r>
            <a:r>
              <a:rPr lang="en-US" dirty="0">
                <a:latin typeface="+mn-lt"/>
              </a:rPr>
              <a:t>,</a:t>
            </a:r>
          </a:p>
          <a:p>
            <a:pPr algn="l">
              <a:lnSpc>
                <a:spcPct val="90000"/>
              </a:lnSpc>
            </a:pPr>
            <a:r>
              <a:rPr lang="en-US" dirty="0"/>
              <a:t>COMPASS-GLM,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COMPASS-FME</a:t>
            </a:r>
            <a:r>
              <a:rPr lang="en-US" dirty="0"/>
              <a:t>,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ICOM,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ORNL SFA,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PNNL SFA,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LBNL SFA,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LDRD,</a:t>
            </a:r>
          </a:p>
          <a:p>
            <a:pPr algn="l">
              <a:lnSpc>
                <a:spcPct val="90000"/>
              </a:lnSpc>
            </a:pPr>
            <a:r>
              <a:rPr lang="en-US" dirty="0">
                <a:latin typeface="+mn-lt"/>
              </a:rPr>
              <a:t>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0F7A30-D8FA-0944-1B73-5EA2AAA290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3612" y="3174099"/>
            <a:ext cx="6358914" cy="17109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B4E98D-952E-7814-18B0-B50ACAA89A7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4720"/>
          <a:stretch>
            <a:fillRect/>
          </a:stretch>
        </p:blipFill>
        <p:spPr>
          <a:xfrm>
            <a:off x="8634185" y="1154694"/>
            <a:ext cx="3326849" cy="13256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5F40DD-EA44-BCFE-17BE-E511E5D8AF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9171" y="2480315"/>
            <a:ext cx="3316706" cy="3874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807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31BE6-61BB-2792-DB2C-96812B6ED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Gothic"/>
              </a:rPr>
              <a:t>v2.0 Release…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69DAC-2131-9476-927A-B8073B3AD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614" y="1583683"/>
            <a:ext cx="11372771" cy="4047778"/>
          </a:xfrm>
        </p:spPr>
        <p:txBody>
          <a:bodyPr/>
          <a:lstStyle/>
          <a:p>
            <a:pPr marL="287020" indent="-287020"/>
            <a:r>
              <a:rPr lang="en-US" dirty="0">
                <a:latin typeface="Arial"/>
                <a:cs typeface="Arial"/>
              </a:rPr>
              <a:t>Upgrades to shapely 2.0, </a:t>
            </a:r>
            <a:r>
              <a:rPr lang="en-US" dirty="0" err="1">
                <a:latin typeface="Arial"/>
                <a:cs typeface="Arial"/>
              </a:rPr>
              <a:t>geopandas</a:t>
            </a:r>
            <a:r>
              <a:rPr lang="en-US" dirty="0">
                <a:latin typeface="Arial"/>
                <a:cs typeface="Arial"/>
              </a:rPr>
              <a:t>, and </a:t>
            </a:r>
            <a:r>
              <a:rPr lang="en-US" dirty="0" err="1">
                <a:latin typeface="Arial"/>
                <a:cs typeface="Arial"/>
              </a:rPr>
              <a:t>xarray</a:t>
            </a:r>
            <a:endParaRPr lang="en-US" dirty="0"/>
          </a:p>
          <a:p>
            <a:pPr marL="287020" indent="-287020">
              <a:buClr>
                <a:srgbClr val="000000"/>
              </a:buClr>
            </a:pPr>
            <a:r>
              <a:rPr lang="en-US" dirty="0">
                <a:latin typeface="Arial"/>
                <a:cs typeface="Arial"/>
              </a:rPr>
              <a:t>Better support for ATS integration – </a:t>
            </a:r>
            <a:r>
              <a:rPr lang="en-US" dirty="0">
                <a:latin typeface="Arial"/>
                <a:cs typeface="Arial"/>
                <a:hlinkClick r:id="rId2"/>
              </a:rPr>
              <a:t>https://github.com/ecoon/ats_input_spec</a:t>
            </a:r>
            <a:endParaRPr lang="en-US" dirty="0"/>
          </a:p>
          <a:p>
            <a:pPr marL="287020" indent="-287020">
              <a:buClr>
                <a:srgbClr val="000000"/>
              </a:buClr>
            </a:pPr>
            <a:r>
              <a:rPr lang="en-US" dirty="0">
                <a:latin typeface="Arial"/>
                <a:cs typeface="Arial"/>
              </a:rPr>
              <a:t>Nascent integration with ESS-DIVE and Basin-3D, more general support for integration with point data and observations</a:t>
            </a:r>
            <a:endParaRPr lang="en-US" dirty="0"/>
          </a:p>
          <a:p>
            <a:pPr marL="287020" indent="-287020">
              <a:buClr>
                <a:srgbClr val="000000"/>
              </a:buClr>
            </a:pPr>
            <a:r>
              <a:rPr lang="en-US" dirty="0"/>
              <a:t>Ongoing work in representing internal gages</a:t>
            </a:r>
          </a:p>
        </p:txBody>
      </p:sp>
    </p:spTree>
    <p:extLst>
      <p:ext uri="{BB962C8B-B14F-4D97-AF65-F5344CB8AC3E}">
        <p14:creationId xmlns:p14="http://schemas.microsoft.com/office/powerpoint/2010/main" val="3928621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CAD28-0920-8B15-A522-18A0226DF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/>
              </a:rPr>
              <a:t>Contributions welcome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2756F-8B03-DBAB-20AF-778158AFA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7020" indent="-287020"/>
            <a:r>
              <a:rPr lang="en-US">
                <a:latin typeface="Arial"/>
                <a:cs typeface="Arial"/>
              </a:rPr>
              <a:t>Watershed Workflow development team currently includes 9 contributors</a:t>
            </a:r>
          </a:p>
          <a:p>
            <a:pPr marL="287020" indent="-287020">
              <a:buClr>
                <a:srgbClr val="000000"/>
              </a:buClr>
            </a:pPr>
            <a:r>
              <a:rPr lang="en-US">
                <a:latin typeface="Arial"/>
                <a:cs typeface="Arial"/>
              </a:rPr>
              <a:t>We use an open development model leveraging </a:t>
            </a:r>
            <a:r>
              <a:rPr lang="en-US" err="1">
                <a:latin typeface="Arial"/>
                <a:cs typeface="Arial"/>
              </a:rPr>
              <a:t>github</a:t>
            </a:r>
            <a:r>
              <a:rPr lang="en-US">
                <a:latin typeface="Arial"/>
                <a:cs typeface="Arial"/>
              </a:rPr>
              <a:t> for issues, pull requests, code reviews, etc.</a:t>
            </a:r>
            <a:endParaRPr lang="en-US"/>
          </a:p>
          <a:p>
            <a:pPr marL="287020" indent="-287020">
              <a:buClr>
                <a:srgbClr val="000000"/>
              </a:buClr>
            </a:pPr>
            <a:r>
              <a:rPr lang="en-US">
                <a:latin typeface="Arial"/>
                <a:cs typeface="Arial"/>
              </a:rPr>
              <a:t>We welcome contributions for novel data, expanded capability, and even just galleries/examples with pretty pictures!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10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manzi_ats_template" id="{08F3B869-8257-1D4B-9602-6C04907AFFD2}" vid="{547FB876-99D0-DE41-9257-A09609C82DD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895</TotalTime>
  <Words>378</Words>
  <Application>Microsoft Macintosh PowerPoint</Application>
  <PresentationFormat>Widescreen</PresentationFormat>
  <Paragraphs>49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Candara</vt:lpstr>
      <vt:lpstr>Century Gothic</vt:lpstr>
      <vt:lpstr>Verdana</vt:lpstr>
      <vt:lpstr>Office Theme</vt:lpstr>
      <vt:lpstr>Model Setup &amp; Watershed Workflow</vt:lpstr>
      <vt:lpstr>Introduction </vt:lpstr>
      <vt:lpstr>Watershed Workflow</vt:lpstr>
      <vt:lpstr>Default Workflow</vt:lpstr>
      <vt:lpstr>Watershed Workflow</vt:lpstr>
      <vt:lpstr>v2.0 Release…</vt:lpstr>
      <vt:lpstr>Contributions welcome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Coon, Ethan</dc:creator>
  <cp:lastModifiedBy>Coon, Ethan</cp:lastModifiedBy>
  <cp:revision>1</cp:revision>
  <dcterms:created xsi:type="dcterms:W3CDTF">2025-09-03T23:52:13Z</dcterms:created>
  <dcterms:modified xsi:type="dcterms:W3CDTF">2025-09-04T14:47:39Z</dcterms:modified>
</cp:coreProperties>
</file>