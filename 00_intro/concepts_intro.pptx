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268" r:id="rId2"/>
    <p:sldId id="300" r:id="rId3"/>
    <p:sldId id="323" r:id="rId4"/>
    <p:sldId id="322" r:id="rId5"/>
    <p:sldId id="308" r:id="rId6"/>
    <p:sldId id="314" r:id="rId7"/>
    <p:sldId id="324" r:id="rId8"/>
    <p:sldId id="315" r:id="rId9"/>
    <p:sldId id="320" r:id="rId10"/>
    <p:sldId id="316" r:id="rId11"/>
    <p:sldId id="317" r:id="rId12"/>
    <p:sldId id="318" r:id="rId13"/>
    <p:sldId id="368" r:id="rId14"/>
    <p:sldId id="319" r:id="rId15"/>
    <p:sldId id="321" r:id="rId16"/>
    <p:sldId id="309" r:id="rId17"/>
    <p:sldId id="327" r:id="rId18"/>
    <p:sldId id="378" r:id="rId19"/>
    <p:sldId id="325" r:id="rId20"/>
    <p:sldId id="326" r:id="rId21"/>
    <p:sldId id="328" r:id="rId22"/>
    <p:sldId id="329" r:id="rId23"/>
    <p:sldId id="330" r:id="rId24"/>
    <p:sldId id="307" r:id="rId25"/>
    <p:sldId id="306" r:id="rId26"/>
    <p:sldId id="380" r:id="rId27"/>
    <p:sldId id="331" r:id="rId28"/>
    <p:sldId id="379" r:id="rId29"/>
    <p:sldId id="381" r:id="rId30"/>
    <p:sldId id="377" r:id="rId31"/>
    <p:sldId id="302" r:id="rId32"/>
    <p:sldId id="303" r:id="rId33"/>
    <p:sldId id="304" r:id="rId34"/>
    <p:sldId id="369" r:id="rId35"/>
    <p:sldId id="370" r:id="rId36"/>
    <p:sldId id="305" r:id="rId37"/>
    <p:sldId id="30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FFFF"/>
    <a:srgbClr val="FF8A8A"/>
    <a:srgbClr val="A5FFA4"/>
    <a:srgbClr val="8B6E4A"/>
    <a:srgbClr val="6B5032"/>
    <a:srgbClr val="3F6E35"/>
    <a:srgbClr val="71A2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19"/>
    <p:restoredTop sz="96197"/>
  </p:normalViewPr>
  <p:slideViewPr>
    <p:cSldViewPr snapToGrid="0" snapToObjects="1">
      <p:cViewPr varScale="1">
        <p:scale>
          <a:sx n="79" d="100"/>
          <a:sy n="79" d="100"/>
        </p:scale>
        <p:origin x="224" y="1160"/>
      </p:cViewPr>
      <p:guideLst>
        <p:guide orient="horz" pos="32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30B58-D64B-1640-9CD7-3FB200F5DF37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ED748-4A5B-5E46-9696-C5A46FE41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0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3D17-8D20-8640-8AFA-64C20E914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902" y="2227866"/>
            <a:ext cx="11372196" cy="1329721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72031-FD30-9643-8CB7-B95CA0CE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902" y="3611452"/>
            <a:ext cx="11372196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6B642-59AE-2442-84FD-7AE8E8AC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E824D4-F2D7-CE47-A23E-36588576BF4F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1954924"/>
            <a:ext cx="12444248" cy="0"/>
          </a:xfrm>
          <a:prstGeom prst="line">
            <a:avLst/>
          </a:prstGeom>
          <a:ln w="635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FD503E-B97A-5341-953D-072BC0488E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2064462"/>
            <a:ext cx="12444248" cy="0"/>
          </a:xfrm>
          <a:prstGeom prst="line">
            <a:avLst/>
          </a:prstGeom>
          <a:ln w="635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8C7EA8-805D-704D-9C46-7A2B88FA389E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2174000"/>
            <a:ext cx="12444248" cy="0"/>
          </a:xfrm>
          <a:prstGeom prst="line">
            <a:avLst/>
          </a:prstGeom>
          <a:ln w="635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5A4CB026-A1EC-6944-B19B-95B9848E04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6176" y="239814"/>
            <a:ext cx="7635922" cy="198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5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4565-C881-2745-AE7B-0305281D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4921-C005-284D-BC0E-A9C93F0C3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9D9D8-F842-5F43-93EC-D2628995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8282"/>
            <a:ext cx="2743200" cy="365125"/>
          </a:xfrm>
        </p:spPr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8C1158E0-B140-1C49-BB57-66D55A4819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517392-EF32-1B4A-B887-591E79824361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066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7315CF-E85C-E644-B0BA-BEC309082D3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835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A46F9F-3DFE-9A40-BE11-887E328766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592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26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7E68-4DC4-FA49-9A24-E408AB37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67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9FAB4-73C5-9845-854F-0E816D0E7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9662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1B8D1-62D1-664B-80A1-47BFB988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342125-3367-694C-AC3A-9611DBFCD62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568014"/>
            <a:ext cx="12444248" cy="0"/>
          </a:xfrm>
          <a:prstGeom prst="line">
            <a:avLst/>
          </a:prstGeom>
          <a:ln w="635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73C6AC-C89B-A04D-B3FD-8933B822007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677552"/>
            <a:ext cx="12444248" cy="0"/>
          </a:xfrm>
          <a:prstGeom prst="line">
            <a:avLst/>
          </a:prstGeom>
          <a:ln w="635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D58F22-2868-114C-8991-4E8A85642E7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787090"/>
            <a:ext cx="12444248" cy="0"/>
          </a:xfrm>
          <a:prstGeom prst="line">
            <a:avLst/>
          </a:prstGeom>
          <a:ln w="635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E23505FE-FBD4-8A49-B01B-6B77333915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5385702"/>
            <a:ext cx="5391524" cy="140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AD78-92AE-DA49-B5F5-3862B41F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E022-2221-0049-8A6F-B69883F9F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7A401-0407-3A4E-AF10-8D7D21A21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1C684-159A-6649-935A-5644D6D1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879C285-E6DE-C849-9CB2-8F06D0956F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BEBEBA-BDB3-FF43-B0EB-2C659B4EFBAC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C92EEB-FA32-9340-9A19-08F29B24A38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35F12F-BA9C-EE40-AB2E-B02DE040ACE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3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9B30-3E3B-3E47-8C1D-90EE1AD7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A8830-69C4-7548-8A18-DB6EEC235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CDEC3-8E5C-9849-82EE-31949FDF7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79C10-9BBC-3042-BBDB-8DE500EE9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8D187-7EF6-3F49-9463-F9CA1B0CA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EE1A8-6010-4546-B9FE-5237749C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4C0FEAF6-3D3C-A145-88E2-A2C07B789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92DA9C-ADAF-4D40-8921-719E20F03DD9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86DE51-DCB8-0F4F-B754-F27101BB9F3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653AC4-4736-A544-9859-499E8BC0CF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23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3891-B5EA-D84F-85DA-BB5C8E4B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CCB9A-D2BE-E24A-ABA4-D3F058176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BE7C83BC-4CA0-9A47-8C49-E428365DA4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48DF37-D370-EC45-B41A-3A248C580C0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8A1CC7-A92E-554C-BBE7-30C6AD38DC7F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C99D8B-F8C1-6946-83A0-680C797743B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9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99330-3866-D74B-A43B-9B2FB09F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0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BFFD6-80D0-EF49-B105-EEE3A6BC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866FB-0514-2644-A883-1DA61F0D8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3E22F-36D9-7949-A476-098F92A8C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EC97E-6B30-1C4B-955C-DA460062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F4C5083F-B6EF-294F-A320-4726C321D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0B4FBA-7050-924F-AC27-E30AEDDDF8C4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3B97BA-36AC-2E45-8235-E8535F9B11C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755994-9FFA-044E-B8C9-5B8A5EA642A7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1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0D15-F612-3F4C-83F5-D83FFBA3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4F7F4-5402-7844-99D8-E4C531D7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16731-A9FA-9F4D-9559-AD665D5B1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F70B1-E6BD-734B-B146-FEAA4C96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85BF69B-1F80-074D-B374-4DD091AC7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F18A07-FA13-E044-9CEF-8E6B6C331B25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34E5B0-AA7E-E447-8AD5-3D04348BC4A6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2AAB7C-A39E-4A46-BC02-C43759249951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89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7E99-E1BC-3641-9EE3-BB5FBD79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44286-2101-BC4C-B17D-D9EFB04B2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D7433-A6CE-B34F-9CB0-4F76F33C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2732685-DCB2-6240-836C-6713FA944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E3C1CA-9220-1848-99B3-1B82F34D8A19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17987A-CEF6-BB4E-A5C5-22BA936D85A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986916-7F77-594E-8828-D541F0747D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56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B6E50-EF73-D143-ABCB-A18C2DE04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B2CF7-7C6C-064C-A3FC-0281ED738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BF6BA-1D90-A842-9C10-2F765D20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3D36005-E914-3D41-919D-18CB97F147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A55947-1FF9-B644-866B-2ED34C78BEA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109509-2E60-BA46-AA42-3A7BC303AF96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5AE987-6CB9-714B-B85F-D587ABB7B53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33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872BD-AD1F-7D48-A18B-412D6C5E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F1F3C-4F81-B842-91D0-48CAA129A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E69D4-2DFC-DB44-A484-1A2E18D6B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2C021-0C65-A14F-AE8E-3613BEE67D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8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anzi/amanzi/issues/898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amanzi.github.io/at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AEA1-E96B-F645-AD6B-FAF619840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Concepts &amp;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36D47-9ED6-CA4A-B77A-EFE589D22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902" y="4196069"/>
            <a:ext cx="6118914" cy="2714397"/>
          </a:xfrm>
        </p:spPr>
        <p:txBody>
          <a:bodyPr/>
          <a:lstStyle/>
          <a:p>
            <a:r>
              <a:rPr lang="en-US" sz="3000" dirty="0"/>
              <a:t>Ethan Coon</a:t>
            </a:r>
          </a:p>
          <a:p>
            <a:pPr>
              <a:spcBef>
                <a:spcPts val="1000"/>
              </a:spcBef>
            </a:pPr>
            <a:r>
              <a:rPr lang="en-US" dirty="0"/>
              <a:t>Oak Ridge National Laboratory</a:t>
            </a:r>
          </a:p>
        </p:txBody>
      </p:sp>
    </p:spTree>
    <p:extLst>
      <p:ext uri="{BB962C8B-B14F-4D97-AF65-F5344CB8AC3E}">
        <p14:creationId xmlns:p14="http://schemas.microsoft.com/office/powerpoint/2010/main" val="86118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Amanzi</a:t>
            </a:r>
            <a:r>
              <a:rPr lang="en-US" dirty="0"/>
              <a:t>–ATS is a Multiphysics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25625"/>
            <a:ext cx="121920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(not a </a:t>
            </a:r>
            <a:r>
              <a:rPr lang="en-US" i="1" dirty="0"/>
              <a:t>hydrologic model </a:t>
            </a:r>
            <a:r>
              <a:rPr lang="en-US" dirty="0"/>
              <a:t>or </a:t>
            </a:r>
            <a:r>
              <a:rPr lang="en-US" i="1" dirty="0"/>
              <a:t>reactive transport </a:t>
            </a:r>
            <a:r>
              <a:rPr lang="en-US" dirty="0"/>
              <a:t>model)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Rarely is the process certain.</a:t>
            </a:r>
          </a:p>
          <a:p>
            <a:pPr marL="0" indent="0" algn="ctr">
              <a:buNone/>
            </a:pPr>
            <a:endParaRPr lang="en-US" b="1" i="1" dirty="0"/>
          </a:p>
          <a:p>
            <a:pPr marL="0" indent="0" algn="ctr">
              <a:buNone/>
            </a:pPr>
            <a:r>
              <a:rPr lang="en-US" dirty="0"/>
              <a:t>There is no “best model.”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3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ATS is a Multiphysics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25625"/>
            <a:ext cx="10991461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”Simple things should be simple; </a:t>
            </a:r>
            <a:br>
              <a:rPr lang="en-US" i="1" dirty="0"/>
            </a:br>
            <a:r>
              <a:rPr lang="en-US" i="1" dirty="0"/>
              <a:t>				complex things should be possible.”</a:t>
            </a:r>
            <a:br>
              <a:rPr lang="en-US" i="1" dirty="0"/>
            </a:br>
            <a:endParaRPr lang="en-US" i="1" baseline="30000" dirty="0"/>
          </a:p>
          <a:p>
            <a:r>
              <a:rPr lang="en-US" dirty="0"/>
              <a:t>An extremely customizable set of tools for combining components to form environmental models.</a:t>
            </a:r>
          </a:p>
          <a:p>
            <a:r>
              <a:rPr lang="en-US" dirty="0"/>
              <a:t>A rich set of demos illustrating commonly used models.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A323D-B6EB-F24E-A1ED-61A549A253A6}"/>
              </a:ext>
            </a:extLst>
          </p:cNvPr>
          <p:cNvSpPr txBox="1"/>
          <p:nvPr/>
        </p:nvSpPr>
        <p:spPr>
          <a:xfrm>
            <a:off x="10370967" y="458431"/>
            <a:ext cx="12984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*Alan Kay</a:t>
            </a:r>
          </a:p>
        </p:txBody>
      </p:sp>
    </p:spTree>
    <p:extLst>
      <p:ext uri="{BB962C8B-B14F-4D97-AF65-F5344CB8AC3E}">
        <p14:creationId xmlns:p14="http://schemas.microsoft.com/office/powerpoint/2010/main" val="119456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ATS is a Multiphysics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(not a </a:t>
            </a:r>
            <a:r>
              <a:rPr lang="en-US" i="1" dirty="0"/>
              <a:t>hydrologic model </a:t>
            </a:r>
            <a:r>
              <a:rPr lang="en-US" dirty="0"/>
              <a:t>or </a:t>
            </a:r>
            <a:r>
              <a:rPr lang="en-US" i="1" dirty="0"/>
              <a:t>reactive transport </a:t>
            </a:r>
            <a:r>
              <a:rPr lang="en-US" dirty="0"/>
              <a:t>model)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“modes” – models are assembled from components</a:t>
            </a:r>
          </a:p>
          <a:p>
            <a:r>
              <a:rPr lang="en-US" dirty="0"/>
              <a:t>Representing almost any model concept is possible</a:t>
            </a:r>
          </a:p>
          <a:p>
            <a:r>
              <a:rPr lang="en-US" dirty="0"/>
              <a:t>Input files are verbose and buggy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73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 (PK)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2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single differential equation, on a single domain, 	</a:t>
            </a:r>
            <a:r>
              <a:rPr lang="en-US" sz="2000" dirty="0"/>
              <a:t>(subsurface, surface, fractures, canopy) </a:t>
            </a:r>
            <a:br>
              <a:rPr lang="en-US" sz="2000" dirty="0"/>
            </a:br>
            <a:r>
              <a:rPr lang="en-US" dirty="0"/>
              <a:t>often representing conservation of a single quantity. 	</a:t>
            </a:r>
            <a:r>
              <a:rPr lang="en-US" sz="2000" dirty="0"/>
              <a:t>(mass, energy, chemical component C)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Subsurface flow (conservation of water in the soil)</a:t>
            </a:r>
          </a:p>
          <a:p>
            <a:r>
              <a:rPr lang="en-US" dirty="0"/>
              <a:t>Surface transport (conservation of C in the stream)</a:t>
            </a:r>
          </a:p>
          <a:p>
            <a:r>
              <a:rPr lang="en-US" dirty="0"/>
              <a:t>Snow (conservation of water in the snowpack)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47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2168-C077-7B49-991C-45971946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 (PK)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C9A4-3100-A241-B85B-5CD5B80D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Implement an interface related to time integration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 err="1"/>
              <a:t>parseParameterList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Setup()</a:t>
            </a:r>
          </a:p>
          <a:p>
            <a:pPr lvl="1"/>
            <a:r>
              <a:rPr lang="en-US" dirty="0"/>
              <a:t>Initialize()</a:t>
            </a:r>
          </a:p>
          <a:p>
            <a:pPr lvl="1"/>
            <a:r>
              <a:rPr lang="en-US" dirty="0"/>
              <a:t>while not done:</a:t>
            </a:r>
          </a:p>
          <a:p>
            <a:pPr lvl="2"/>
            <a:r>
              <a:rPr lang="en-US" dirty="0" err="1"/>
              <a:t>get_dt</a:t>
            </a:r>
            <a:r>
              <a:rPr lang="en-US" dirty="0"/>
              <a:t>()</a:t>
            </a:r>
          </a:p>
          <a:p>
            <a:pPr lvl="2"/>
            <a:r>
              <a:rPr lang="en-US" dirty="0" err="1"/>
              <a:t>failed_step</a:t>
            </a:r>
            <a:r>
              <a:rPr lang="en-US" dirty="0"/>
              <a:t> = </a:t>
            </a:r>
            <a:r>
              <a:rPr lang="en-US" dirty="0" err="1"/>
              <a:t>AdvanceStep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if </a:t>
            </a:r>
            <a:r>
              <a:rPr lang="en-US" dirty="0" err="1"/>
              <a:t>failed_step</a:t>
            </a:r>
            <a:r>
              <a:rPr lang="en-US" dirty="0"/>
              <a:t>: </a:t>
            </a:r>
            <a:r>
              <a:rPr lang="en-US" dirty="0" err="1"/>
              <a:t>FailStep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else: </a:t>
            </a:r>
            <a:r>
              <a:rPr lang="en-US" dirty="0" err="1"/>
              <a:t>CommitStep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261C2-DA36-6B48-9FDB-F1C0D28A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164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2168-C077-7B49-991C-45971946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Multi-Process Couplers (MPCs)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C9A4-3100-A241-B85B-5CD5B80D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PKs are coupled together via MPCs.</a:t>
            </a:r>
          </a:p>
          <a:p>
            <a:r>
              <a:rPr lang="en-US" dirty="0"/>
              <a:t>MPCs </a:t>
            </a:r>
            <a:r>
              <a:rPr lang="en-US" i="1" dirty="0"/>
              <a:t>are</a:t>
            </a:r>
            <a:r>
              <a:rPr lang="en-US" dirty="0"/>
              <a:t> PKs themselves</a:t>
            </a:r>
          </a:p>
          <a:p>
            <a:r>
              <a:rPr lang="en-US" dirty="0"/>
              <a:t>MPCs can couple other MPCs</a:t>
            </a:r>
          </a:p>
          <a:p>
            <a:r>
              <a:rPr lang="en-US" i="1" dirty="0"/>
              <a:t>Abstract</a:t>
            </a:r>
            <a:r>
              <a:rPr lang="en-US" dirty="0"/>
              <a:t> MPCs</a:t>
            </a:r>
          </a:p>
          <a:p>
            <a:pPr lvl="1"/>
            <a:r>
              <a:rPr lang="en-US" i="1" dirty="0"/>
              <a:t>weak</a:t>
            </a:r>
            <a:r>
              <a:rPr lang="en-US" dirty="0"/>
              <a:t> MPC: sequential, noniterative</a:t>
            </a:r>
          </a:p>
          <a:p>
            <a:pPr lvl="1"/>
            <a:r>
              <a:rPr lang="en-US" i="1" dirty="0"/>
              <a:t>strong</a:t>
            </a:r>
            <a:r>
              <a:rPr lang="en-US" dirty="0"/>
              <a:t> MPC: globally implicit</a:t>
            </a:r>
          </a:p>
          <a:p>
            <a:pPr lvl="1"/>
            <a:r>
              <a:rPr lang="en-US" i="1" dirty="0" err="1"/>
              <a:t>Subcycling</a:t>
            </a:r>
            <a:r>
              <a:rPr lang="en-US" i="1" dirty="0"/>
              <a:t> </a:t>
            </a:r>
            <a:r>
              <a:rPr lang="en-US" dirty="0"/>
              <a:t>MPC: </a:t>
            </a:r>
            <a:r>
              <a:rPr lang="en-US" dirty="0" err="1"/>
              <a:t>subcycle</a:t>
            </a:r>
            <a:r>
              <a:rPr lang="en-US" dirty="0"/>
              <a:t> one PK relative to another</a:t>
            </a:r>
            <a:endParaRPr lang="en-US" i="1" dirty="0"/>
          </a:p>
          <a:p>
            <a:r>
              <a:rPr lang="en-US" i="1" dirty="0"/>
              <a:t>Custom</a:t>
            </a:r>
            <a:r>
              <a:rPr lang="en-US" dirty="0"/>
              <a:t> MPCs: know about the physics of their PKs</a:t>
            </a:r>
          </a:p>
          <a:p>
            <a:pPr lvl="1"/>
            <a:r>
              <a:rPr lang="en-US" i="1" dirty="0"/>
              <a:t>Coupled Water </a:t>
            </a:r>
            <a:r>
              <a:rPr lang="en-US" dirty="0"/>
              <a:t>MPC: integrates surface + subsurface through pressure and flux continuity</a:t>
            </a:r>
          </a:p>
          <a:p>
            <a:pPr lvl="1"/>
            <a:r>
              <a:rPr lang="en-US" i="1" dirty="0"/>
              <a:t>Reactive Transport </a:t>
            </a:r>
            <a:r>
              <a:rPr lang="en-US" dirty="0"/>
              <a:t>MPC: operator-splitting reactions + transport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261C2-DA36-6B48-9FDB-F1C0D28A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44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AC16-C525-494D-A07E-8FE36A9F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2765-AA48-5644-9244-6F308E6D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EE0460-E41C-D141-A356-92381E975CD3}"/>
              </a:ext>
            </a:extLst>
          </p:cNvPr>
          <p:cNvSpPr/>
          <p:nvPr/>
        </p:nvSpPr>
        <p:spPr>
          <a:xfrm>
            <a:off x="4816508" y="2995385"/>
            <a:ext cx="2558984" cy="867229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66000">
                <a:srgbClr val="D2B489"/>
              </a:gs>
              <a:gs pos="100000">
                <a:srgbClr val="D49000"/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PK: Richards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BB2346-EAF4-7141-9C04-C914206B3B13}"/>
              </a:ext>
            </a:extLst>
          </p:cNvPr>
          <p:cNvSpPr txBox="1"/>
          <p:nvPr/>
        </p:nvSpPr>
        <p:spPr>
          <a:xfrm>
            <a:off x="7607882" y="766296"/>
            <a:ext cx="3745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Subsurface Flow</a:t>
            </a:r>
          </a:p>
        </p:txBody>
      </p:sp>
    </p:spTree>
    <p:extLst>
      <p:ext uri="{BB962C8B-B14F-4D97-AF65-F5344CB8AC3E}">
        <p14:creationId xmlns:p14="http://schemas.microsoft.com/office/powerpoint/2010/main" val="28299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AC16-C525-494D-A07E-8FE36A9F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2765-AA48-5644-9244-6F308E6D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97D0B3-5B45-8842-8E93-A03FD2A42C0D}"/>
              </a:ext>
            </a:extLst>
          </p:cNvPr>
          <p:cNvGrpSpPr/>
          <p:nvPr/>
        </p:nvGrpSpPr>
        <p:grpSpPr>
          <a:xfrm>
            <a:off x="4230914" y="2434772"/>
            <a:ext cx="3730172" cy="1988456"/>
            <a:chOff x="838200" y="2902857"/>
            <a:chExt cx="3730172" cy="1988456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3CF0F4A-97A8-4641-A54A-5DD7B22F296D}"/>
                </a:ext>
              </a:extLst>
            </p:cNvPr>
            <p:cNvSpPr/>
            <p:nvPr/>
          </p:nvSpPr>
          <p:spPr>
            <a:xfrm>
              <a:off x="838200" y="4252684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overland flow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9EE0460-E41C-D141-A356-92381E975CD3}"/>
                </a:ext>
              </a:extLst>
            </p:cNvPr>
            <p:cNvSpPr/>
            <p:nvPr/>
          </p:nvSpPr>
          <p:spPr>
            <a:xfrm>
              <a:off x="2979057" y="4252684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Richards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5A4AD17-40CD-0541-96D5-A9EBC163F1F1}"/>
                </a:ext>
              </a:extLst>
            </p:cNvPr>
            <p:cNvSpPr/>
            <p:nvPr/>
          </p:nvSpPr>
          <p:spPr>
            <a:xfrm>
              <a:off x="1745345" y="2902857"/>
              <a:ext cx="1915885" cy="1030514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coupled water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A4D9FD-1EA8-A04A-8A78-4667B1910EFB}"/>
                </a:ext>
              </a:extLst>
            </p:cNvPr>
            <p:cNvCxnSpPr>
              <a:cxnSpLocks/>
              <a:stCxn id="8" idx="5"/>
              <a:endCxn id="7" idx="0"/>
            </p:cNvCxnSpPr>
            <p:nvPr/>
          </p:nvCxnSpPr>
          <p:spPr>
            <a:xfrm>
              <a:off x="3380655" y="3782456"/>
              <a:ext cx="393060" cy="47022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4F2D76F-D33B-9B49-846E-9A8893F40D65}"/>
                </a:ext>
              </a:extLst>
            </p:cNvPr>
            <p:cNvCxnSpPr>
              <a:cxnSpLocks/>
              <a:stCxn id="8" idx="3"/>
              <a:endCxn id="6" idx="0"/>
            </p:cNvCxnSpPr>
            <p:nvPr/>
          </p:nvCxnSpPr>
          <p:spPr>
            <a:xfrm flipH="1">
              <a:off x="1632858" y="3782456"/>
              <a:ext cx="393062" cy="47022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FBB2346-EAF4-7141-9C04-C914206B3B13}"/>
              </a:ext>
            </a:extLst>
          </p:cNvPr>
          <p:cNvSpPr txBox="1"/>
          <p:nvPr/>
        </p:nvSpPr>
        <p:spPr>
          <a:xfrm>
            <a:off x="8099063" y="766296"/>
            <a:ext cx="3254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/>
              <a:t>Integrated Hydrology</a:t>
            </a:r>
          </a:p>
        </p:txBody>
      </p:sp>
    </p:spTree>
    <p:extLst>
      <p:ext uri="{BB962C8B-B14F-4D97-AF65-F5344CB8AC3E}">
        <p14:creationId xmlns:p14="http://schemas.microsoft.com/office/powerpoint/2010/main" val="17784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AC16-C525-494D-A07E-8FE36A9F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2765-AA48-5644-9244-6F308E6D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BB2346-EAF4-7141-9C04-C914206B3B13}"/>
              </a:ext>
            </a:extLst>
          </p:cNvPr>
          <p:cNvSpPr txBox="1"/>
          <p:nvPr/>
        </p:nvSpPr>
        <p:spPr>
          <a:xfrm>
            <a:off x="5393094" y="766296"/>
            <a:ext cx="5822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Subsurface Flow + Reactive Transport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8B2A5C-583E-8445-A11D-B769CF7F3659}"/>
              </a:ext>
            </a:extLst>
          </p:cNvPr>
          <p:cNvGrpSpPr/>
          <p:nvPr/>
        </p:nvGrpSpPr>
        <p:grpSpPr>
          <a:xfrm>
            <a:off x="3178630" y="1721316"/>
            <a:ext cx="5790309" cy="3881973"/>
            <a:chOff x="3178630" y="1721316"/>
            <a:chExt cx="5790309" cy="388197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CA57296-73F6-304A-BBB2-4313909EF7DF}"/>
                </a:ext>
              </a:extLst>
            </p:cNvPr>
            <p:cNvSpPr/>
            <p:nvPr/>
          </p:nvSpPr>
          <p:spPr>
            <a:xfrm>
              <a:off x="3178630" y="3318784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Richards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1B38A70-3421-ED4E-BA0C-74E3DFBDB216}"/>
                </a:ext>
              </a:extLst>
            </p:cNvPr>
            <p:cNvSpPr/>
            <p:nvPr/>
          </p:nvSpPr>
          <p:spPr>
            <a:xfrm>
              <a:off x="4591957" y="1721316"/>
              <a:ext cx="1331685" cy="1179284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weak coupler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0D7251C-2DC8-944E-A0ED-F57A04F5FF2E}"/>
                </a:ext>
              </a:extLst>
            </p:cNvPr>
            <p:cNvCxnSpPr>
              <a:cxnSpLocks/>
              <a:stCxn id="14" idx="3"/>
              <a:endCxn id="13" idx="0"/>
            </p:cNvCxnSpPr>
            <p:nvPr/>
          </p:nvCxnSpPr>
          <p:spPr>
            <a:xfrm flipH="1">
              <a:off x="3973288" y="2727898"/>
              <a:ext cx="813690" cy="59088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2E6DB5A-EF41-6F40-A8FD-AA11F1A8D684}"/>
                </a:ext>
              </a:extLst>
            </p:cNvPr>
            <p:cNvSpPr/>
            <p:nvPr/>
          </p:nvSpPr>
          <p:spPr>
            <a:xfrm>
              <a:off x="5257800" y="4964660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reactions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BCC84EA-7016-E246-A7DC-C6DD0574B10E}"/>
                </a:ext>
              </a:extLst>
            </p:cNvPr>
            <p:cNvSpPr/>
            <p:nvPr/>
          </p:nvSpPr>
          <p:spPr>
            <a:xfrm>
              <a:off x="7379624" y="4964660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transport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A943E53-7FBA-5A42-9322-25C924597E4C}"/>
                </a:ext>
              </a:extLst>
            </p:cNvPr>
            <p:cNvSpPr/>
            <p:nvPr/>
          </p:nvSpPr>
          <p:spPr>
            <a:xfrm>
              <a:off x="6196709" y="3090925"/>
              <a:ext cx="1589315" cy="1235106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reactive transport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ADFAF14-B5A5-6849-ADF8-573FAC6D4CB6}"/>
                </a:ext>
              </a:extLst>
            </p:cNvPr>
            <p:cNvCxnSpPr>
              <a:cxnSpLocks/>
              <a:stCxn id="18" idx="5"/>
              <a:endCxn id="17" idx="0"/>
            </p:cNvCxnSpPr>
            <p:nvPr/>
          </p:nvCxnSpPr>
          <p:spPr>
            <a:xfrm>
              <a:off x="7553274" y="4145154"/>
              <a:ext cx="621008" cy="8195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D119E53-47EE-9C47-955E-B51AC1E6EFA7}"/>
                </a:ext>
              </a:extLst>
            </p:cNvPr>
            <p:cNvCxnSpPr>
              <a:cxnSpLocks/>
              <a:stCxn id="18" idx="3"/>
              <a:endCxn id="16" idx="0"/>
            </p:cNvCxnSpPr>
            <p:nvPr/>
          </p:nvCxnSpPr>
          <p:spPr>
            <a:xfrm flipH="1">
              <a:off x="6052458" y="4145154"/>
              <a:ext cx="377001" cy="8195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140BA30-34B3-9749-9755-64B82B72A33A}"/>
                </a:ext>
              </a:extLst>
            </p:cNvPr>
            <p:cNvCxnSpPr>
              <a:cxnSpLocks/>
              <a:stCxn id="18" idx="1"/>
              <a:endCxn id="14" idx="5"/>
            </p:cNvCxnSpPr>
            <p:nvPr/>
          </p:nvCxnSpPr>
          <p:spPr>
            <a:xfrm flipH="1" flipV="1">
              <a:off x="5728621" y="2727898"/>
              <a:ext cx="700838" cy="54390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7D06D39-20FC-9749-99DD-37D1668B8BDC}"/>
              </a:ext>
            </a:extLst>
          </p:cNvPr>
          <p:cNvSpPr txBox="1"/>
          <p:nvPr/>
        </p:nvSpPr>
        <p:spPr>
          <a:xfrm>
            <a:off x="7115278" y="1721316"/>
            <a:ext cx="4100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/>
              <a:t>weak</a:t>
            </a:r>
            <a:r>
              <a:rPr lang="en-US" sz="2400" dirty="0"/>
              <a:t> = sequential, noniterative</a:t>
            </a:r>
          </a:p>
          <a:p>
            <a:pPr algn="r"/>
            <a:r>
              <a:rPr lang="en-US" sz="2400" i="1" dirty="0"/>
              <a:t>strong</a:t>
            </a:r>
            <a:r>
              <a:rPr lang="en-US" sz="2400" dirty="0"/>
              <a:t> = globally implicit</a:t>
            </a:r>
          </a:p>
        </p:txBody>
      </p:sp>
    </p:spTree>
    <p:extLst>
      <p:ext uri="{BB962C8B-B14F-4D97-AF65-F5344CB8AC3E}">
        <p14:creationId xmlns:p14="http://schemas.microsoft.com/office/powerpoint/2010/main" val="247882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AC16-C525-494D-A07E-8FE36A9F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2765-AA48-5644-9244-6F308E6D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BB2346-EAF4-7141-9C04-C914206B3B13}"/>
              </a:ext>
            </a:extLst>
          </p:cNvPr>
          <p:cNvSpPr txBox="1"/>
          <p:nvPr/>
        </p:nvSpPr>
        <p:spPr>
          <a:xfrm>
            <a:off x="5728622" y="766296"/>
            <a:ext cx="5487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Integrated Flow + Reactive Transport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6BAD8B-9D19-A347-AE66-CE9395FE5A4E}"/>
              </a:ext>
            </a:extLst>
          </p:cNvPr>
          <p:cNvGrpSpPr/>
          <p:nvPr/>
        </p:nvGrpSpPr>
        <p:grpSpPr>
          <a:xfrm>
            <a:off x="838200" y="1627412"/>
            <a:ext cx="10732452" cy="4718413"/>
            <a:chOff x="1699985" y="1267464"/>
            <a:chExt cx="10732452" cy="4718413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987FC52-4E9B-EE40-83F0-D68A972BB0C4}"/>
                </a:ext>
              </a:extLst>
            </p:cNvPr>
            <p:cNvSpPr/>
            <p:nvPr/>
          </p:nvSpPr>
          <p:spPr>
            <a:xfrm>
              <a:off x="5269340" y="1267464"/>
              <a:ext cx="1331685" cy="1179284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weak coupler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866CA46-4B94-C543-ABE7-A6F08E20B507}"/>
                </a:ext>
              </a:extLst>
            </p:cNvPr>
            <p:cNvCxnSpPr>
              <a:cxnSpLocks/>
              <a:stCxn id="23" idx="3"/>
              <a:endCxn id="42" idx="7"/>
            </p:cNvCxnSpPr>
            <p:nvPr/>
          </p:nvCxnSpPr>
          <p:spPr>
            <a:xfrm flipH="1">
              <a:off x="4121505" y="2274046"/>
              <a:ext cx="1342856" cy="2925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4D69A5BF-F408-4E47-B080-775E9638C22D}"/>
                </a:ext>
              </a:extLst>
            </p:cNvPr>
            <p:cNvSpPr/>
            <p:nvPr/>
          </p:nvSpPr>
          <p:spPr>
            <a:xfrm>
              <a:off x="5140526" y="5347248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surface reactions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4F5EEC90-A1FA-ED42-AD85-D8419191FC02}"/>
                </a:ext>
              </a:extLst>
            </p:cNvPr>
            <p:cNvSpPr/>
            <p:nvPr/>
          </p:nvSpPr>
          <p:spPr>
            <a:xfrm>
              <a:off x="6972475" y="5347248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surface transport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F47B80-E941-D747-9852-66CD48B4A936}"/>
                </a:ext>
              </a:extLst>
            </p:cNvPr>
            <p:cNvSpPr/>
            <p:nvPr/>
          </p:nvSpPr>
          <p:spPr>
            <a:xfrm>
              <a:off x="6225712" y="3687811"/>
              <a:ext cx="1589315" cy="1235106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reactive transport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465075E-C3C8-6149-B2A8-3DF0220F939E}"/>
                </a:ext>
              </a:extLst>
            </p:cNvPr>
            <p:cNvCxnSpPr>
              <a:cxnSpLocks/>
              <a:stCxn id="27" idx="5"/>
              <a:endCxn id="26" idx="0"/>
            </p:cNvCxnSpPr>
            <p:nvPr/>
          </p:nvCxnSpPr>
          <p:spPr>
            <a:xfrm>
              <a:off x="7582277" y="4742040"/>
              <a:ext cx="184856" cy="6052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20BDA1B-AFD7-2F49-ADBD-396C863FEDEA}"/>
                </a:ext>
              </a:extLst>
            </p:cNvPr>
            <p:cNvCxnSpPr>
              <a:cxnSpLocks/>
              <a:stCxn id="27" idx="3"/>
              <a:endCxn id="25" idx="0"/>
            </p:cNvCxnSpPr>
            <p:nvPr/>
          </p:nvCxnSpPr>
          <p:spPr>
            <a:xfrm flipH="1">
              <a:off x="5935184" y="4742040"/>
              <a:ext cx="523278" cy="6052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FD19712-52F6-FC48-8C39-2A7E86700BF3}"/>
                </a:ext>
              </a:extLst>
            </p:cNvPr>
            <p:cNvCxnSpPr>
              <a:cxnSpLocks/>
              <a:stCxn id="38" idx="1"/>
              <a:endCxn id="23" idx="5"/>
            </p:cNvCxnSpPr>
            <p:nvPr/>
          </p:nvCxnSpPr>
          <p:spPr>
            <a:xfrm flipH="1" flipV="1">
              <a:off x="6406004" y="2274046"/>
              <a:ext cx="1645735" cy="30215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7E596F3-768E-B44F-94CC-9F65372D6E7D}"/>
                </a:ext>
              </a:extLst>
            </p:cNvPr>
            <p:cNvGrpSpPr/>
            <p:nvPr/>
          </p:nvGrpSpPr>
          <p:grpSpPr>
            <a:xfrm>
              <a:off x="1699985" y="2415684"/>
              <a:ext cx="3730172" cy="1954816"/>
              <a:chOff x="838200" y="2936497"/>
              <a:chExt cx="3730172" cy="1954816"/>
            </a:xfrm>
          </p:grpSpPr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DDBB5376-8FAF-604F-A824-6493DD287255}"/>
                  </a:ext>
                </a:extLst>
              </p:cNvPr>
              <p:cNvSpPr/>
              <p:nvPr/>
            </p:nvSpPr>
            <p:spPr>
              <a:xfrm>
                <a:off x="838200" y="4252684"/>
                <a:ext cx="1589315" cy="638629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66000">
                    <a:srgbClr val="D2B489"/>
                  </a:gs>
                  <a:gs pos="100000">
                    <a:srgbClr val="D49000"/>
                  </a:gs>
                </a:gsLst>
                <a:lin ang="135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PK: overland flow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3A90EB5-F713-E646-9F52-99A16288BA30}"/>
                  </a:ext>
                </a:extLst>
              </p:cNvPr>
              <p:cNvSpPr/>
              <p:nvPr/>
            </p:nvSpPr>
            <p:spPr>
              <a:xfrm>
                <a:off x="2979057" y="4252684"/>
                <a:ext cx="1589315" cy="638629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66000">
                    <a:srgbClr val="D2B489"/>
                  </a:gs>
                  <a:gs pos="100000">
                    <a:srgbClr val="D49000"/>
                  </a:gs>
                </a:gsLst>
                <a:lin ang="135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PK: Richards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BAE234D-F763-8345-AA30-761888B2BA16}"/>
                  </a:ext>
                </a:extLst>
              </p:cNvPr>
              <p:cNvSpPr/>
              <p:nvPr/>
            </p:nvSpPr>
            <p:spPr>
              <a:xfrm>
                <a:off x="1903154" y="2936497"/>
                <a:ext cx="1589316" cy="1030514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3500000" scaled="1"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MPC: coupled water</a:t>
                </a: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DDFDB24-94E5-8642-87EE-7F001A18915F}"/>
                  </a:ext>
                </a:extLst>
              </p:cNvPr>
              <p:cNvCxnSpPr>
                <a:cxnSpLocks/>
                <a:stCxn id="42" idx="5"/>
                <a:endCxn id="41" idx="0"/>
              </p:cNvCxnSpPr>
              <p:nvPr/>
            </p:nvCxnSpPr>
            <p:spPr>
              <a:xfrm>
                <a:off x="3259720" y="3816096"/>
                <a:ext cx="513995" cy="436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F6ED5BB-E4FE-F949-8C2E-2694BE6444DA}"/>
                  </a:ext>
                </a:extLst>
              </p:cNvPr>
              <p:cNvCxnSpPr>
                <a:cxnSpLocks/>
                <a:stCxn id="42" idx="3"/>
                <a:endCxn id="40" idx="0"/>
              </p:cNvCxnSpPr>
              <p:nvPr/>
            </p:nvCxnSpPr>
            <p:spPr>
              <a:xfrm flipH="1">
                <a:off x="1632858" y="3816096"/>
                <a:ext cx="503046" cy="436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0E4DC2F-1CAD-8048-95A8-86BAAAD28CF7}"/>
                </a:ext>
              </a:extLst>
            </p:cNvPr>
            <p:cNvSpPr/>
            <p:nvPr/>
          </p:nvSpPr>
          <p:spPr>
            <a:xfrm>
              <a:off x="8872371" y="5347248"/>
              <a:ext cx="165732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subsurface reactions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C2CA39B4-ED41-8C4D-87F2-C95E68D97E36}"/>
                </a:ext>
              </a:extLst>
            </p:cNvPr>
            <p:cNvSpPr/>
            <p:nvPr/>
          </p:nvSpPr>
          <p:spPr>
            <a:xfrm>
              <a:off x="10775112" y="5347248"/>
              <a:ext cx="165732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subsurface transport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726B174-1FF3-B247-B8B4-5CFFEF9B4D19}"/>
                </a:ext>
              </a:extLst>
            </p:cNvPr>
            <p:cNvSpPr/>
            <p:nvPr/>
          </p:nvSpPr>
          <p:spPr>
            <a:xfrm>
              <a:off x="9637784" y="3687811"/>
              <a:ext cx="1772675" cy="1235106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reactive transport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A78AB1B-8017-6D49-A498-04C231119AED}"/>
                </a:ext>
              </a:extLst>
            </p:cNvPr>
            <p:cNvCxnSpPr>
              <a:cxnSpLocks/>
              <a:stCxn id="34" idx="5"/>
              <a:endCxn id="33" idx="0"/>
            </p:cNvCxnSpPr>
            <p:nvPr/>
          </p:nvCxnSpPr>
          <p:spPr>
            <a:xfrm>
              <a:off x="11150857" y="4742040"/>
              <a:ext cx="452918" cy="6052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5CC9A54-6E4B-B847-B335-6EA598E1E259}"/>
                </a:ext>
              </a:extLst>
            </p:cNvPr>
            <p:cNvCxnSpPr>
              <a:cxnSpLocks/>
              <a:stCxn id="34" idx="3"/>
              <a:endCxn id="32" idx="0"/>
            </p:cNvCxnSpPr>
            <p:nvPr/>
          </p:nvCxnSpPr>
          <p:spPr>
            <a:xfrm flipH="1">
              <a:off x="9701034" y="4742040"/>
              <a:ext cx="196352" cy="6052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D999BAE-E4AC-FA4B-858C-FD3FA39F2FAC}"/>
                </a:ext>
              </a:extLst>
            </p:cNvPr>
            <p:cNvCxnSpPr>
              <a:cxnSpLocks/>
              <a:stCxn id="34" idx="1"/>
              <a:endCxn id="38" idx="5"/>
            </p:cNvCxnSpPr>
            <p:nvPr/>
          </p:nvCxnSpPr>
          <p:spPr>
            <a:xfrm flipH="1" flipV="1">
              <a:off x="9175554" y="3410084"/>
              <a:ext cx="721832" cy="45860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BB51926-3DCD-E94E-BB2C-782D9921327D}"/>
                </a:ext>
              </a:extLst>
            </p:cNvPr>
            <p:cNvSpPr/>
            <p:nvPr/>
          </p:nvSpPr>
          <p:spPr>
            <a:xfrm>
              <a:off x="7818989" y="2403502"/>
              <a:ext cx="1589315" cy="1179284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coupled transport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7A1DCA7-E7E2-5B4B-8D1B-A2C5E36451F5}"/>
                </a:ext>
              </a:extLst>
            </p:cNvPr>
            <p:cNvCxnSpPr>
              <a:cxnSpLocks/>
              <a:stCxn id="27" idx="7"/>
              <a:endCxn id="38" idx="3"/>
            </p:cNvCxnSpPr>
            <p:nvPr/>
          </p:nvCxnSpPr>
          <p:spPr>
            <a:xfrm flipV="1">
              <a:off x="7582277" y="3410084"/>
              <a:ext cx="469462" cy="45860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619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AC16-C525-494D-A07E-8FE36A9F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2765-AA48-5644-9244-6F308E6D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BB2346-EAF4-7141-9C04-C914206B3B13}"/>
              </a:ext>
            </a:extLst>
          </p:cNvPr>
          <p:cNvSpPr txBox="1"/>
          <p:nvPr/>
        </p:nvSpPr>
        <p:spPr>
          <a:xfrm>
            <a:off x="5728622" y="766296"/>
            <a:ext cx="5487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Arctic Hydrology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C39F6D2-2DC1-3640-B936-62422FAF0537}"/>
              </a:ext>
            </a:extLst>
          </p:cNvPr>
          <p:cNvGrpSpPr/>
          <p:nvPr/>
        </p:nvGrpSpPr>
        <p:grpSpPr>
          <a:xfrm>
            <a:off x="2688180" y="1968822"/>
            <a:ext cx="6815640" cy="4225054"/>
            <a:chOff x="4684010" y="1751108"/>
            <a:chExt cx="6815640" cy="422505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FACEFB5-B36D-3F46-98FA-4725FF54365F}"/>
                </a:ext>
              </a:extLst>
            </p:cNvPr>
            <p:cNvSpPr/>
            <p:nvPr/>
          </p:nvSpPr>
          <p:spPr>
            <a:xfrm>
              <a:off x="6273325" y="1751108"/>
              <a:ext cx="1331685" cy="1179284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strong coupler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6AE8C48-B631-EA41-B51C-0651C9E05ABA}"/>
                </a:ext>
              </a:extLst>
            </p:cNvPr>
            <p:cNvSpPr/>
            <p:nvPr/>
          </p:nvSpPr>
          <p:spPr>
            <a:xfrm>
              <a:off x="6355743" y="4465769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overland flow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24111639-2BB2-8B42-A199-FFA6F8C2C410}"/>
                </a:ext>
              </a:extLst>
            </p:cNvPr>
            <p:cNvSpPr/>
            <p:nvPr/>
          </p:nvSpPr>
          <p:spPr>
            <a:xfrm>
              <a:off x="7150401" y="5337533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surface energy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B5AE591-72AC-7C4B-97BF-661EDA4F9985}"/>
                </a:ext>
              </a:extLst>
            </p:cNvPr>
            <p:cNvCxnSpPr>
              <a:cxnSpLocks/>
              <a:stCxn id="57" idx="4"/>
              <a:endCxn id="48" idx="0"/>
            </p:cNvCxnSpPr>
            <p:nvPr/>
          </p:nvCxnSpPr>
          <p:spPr>
            <a:xfrm flipH="1">
              <a:off x="7945059" y="4293686"/>
              <a:ext cx="859975" cy="10438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286176B-1594-8040-89F3-21A9BC288F52}"/>
                </a:ext>
              </a:extLst>
            </p:cNvPr>
            <p:cNvCxnSpPr>
              <a:cxnSpLocks/>
              <a:stCxn id="57" idx="3"/>
              <a:endCxn id="47" idx="0"/>
            </p:cNvCxnSpPr>
            <p:nvPr/>
          </p:nvCxnSpPr>
          <p:spPr>
            <a:xfrm flipH="1">
              <a:off x="7150401" y="4131877"/>
              <a:ext cx="1022987" cy="33389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31CD316-0A00-4A4B-8EA8-11410D09C13A}"/>
                </a:ext>
              </a:extLst>
            </p:cNvPr>
            <p:cNvCxnSpPr>
              <a:cxnSpLocks/>
              <a:stCxn id="57" idx="1"/>
              <a:endCxn id="46" idx="5"/>
            </p:cNvCxnSpPr>
            <p:nvPr/>
          </p:nvCxnSpPr>
          <p:spPr>
            <a:xfrm flipH="1" flipV="1">
              <a:off x="7409989" y="2757690"/>
              <a:ext cx="763399" cy="5929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F4EABAC-B34E-BA44-B4AA-40FDC76633C2}"/>
                </a:ext>
              </a:extLst>
            </p:cNvPr>
            <p:cNvGrpSpPr/>
            <p:nvPr/>
          </p:nvGrpSpPr>
          <p:grpSpPr>
            <a:xfrm>
              <a:off x="4684010" y="2757690"/>
              <a:ext cx="1784336" cy="1247213"/>
              <a:chOff x="2911987" y="3231300"/>
              <a:chExt cx="1784336" cy="1247213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DD51CE50-F0F7-0449-9635-970D960832DE}"/>
                  </a:ext>
                </a:extLst>
              </p:cNvPr>
              <p:cNvSpPr/>
              <p:nvPr/>
            </p:nvSpPr>
            <p:spPr>
              <a:xfrm>
                <a:off x="2911987" y="3839884"/>
                <a:ext cx="1589315" cy="638629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66000">
                    <a:srgbClr val="D2B489"/>
                  </a:gs>
                  <a:gs pos="100000">
                    <a:srgbClr val="D49000"/>
                  </a:gs>
                </a:gsLst>
                <a:lin ang="135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PK: snow</a:t>
                </a: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80AC9AE-C97D-C04C-A70E-19264556D14A}"/>
                  </a:ext>
                </a:extLst>
              </p:cNvPr>
              <p:cNvCxnSpPr>
                <a:cxnSpLocks/>
                <a:stCxn id="46" idx="3"/>
                <a:endCxn id="58" idx="0"/>
              </p:cNvCxnSpPr>
              <p:nvPr/>
            </p:nvCxnSpPr>
            <p:spPr>
              <a:xfrm flipH="1">
                <a:off x="3706645" y="3231300"/>
                <a:ext cx="989678" cy="60858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3B1060AA-A84D-5B4F-9D18-4DF12A4FD8C7}"/>
                </a:ext>
              </a:extLst>
            </p:cNvPr>
            <p:cNvSpPr/>
            <p:nvPr/>
          </p:nvSpPr>
          <p:spPr>
            <a:xfrm>
              <a:off x="9013663" y="5337533"/>
              <a:ext cx="165732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Richards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F644B809-4562-0146-BA51-0A9F44D760B6}"/>
                </a:ext>
              </a:extLst>
            </p:cNvPr>
            <p:cNvSpPr/>
            <p:nvPr/>
          </p:nvSpPr>
          <p:spPr>
            <a:xfrm>
              <a:off x="9842325" y="4479448"/>
              <a:ext cx="165732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subsurface energy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A3B82C-63F7-E64B-8D68-A6042A92D9C0}"/>
                </a:ext>
              </a:extLst>
            </p:cNvPr>
            <p:cNvCxnSpPr>
              <a:cxnSpLocks/>
              <a:stCxn id="57" idx="5"/>
              <a:endCxn id="54" idx="0"/>
            </p:cNvCxnSpPr>
            <p:nvPr/>
          </p:nvCxnSpPr>
          <p:spPr>
            <a:xfrm>
              <a:off x="9436680" y="4131877"/>
              <a:ext cx="1234308" cy="34757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C6D959B-7E95-234D-BF64-0D9157A6C555}"/>
                </a:ext>
              </a:extLst>
            </p:cNvPr>
            <p:cNvCxnSpPr>
              <a:cxnSpLocks/>
              <a:stCxn id="57" idx="4"/>
              <a:endCxn id="53" idx="0"/>
            </p:cNvCxnSpPr>
            <p:nvPr/>
          </p:nvCxnSpPr>
          <p:spPr>
            <a:xfrm>
              <a:off x="8805034" y="4293686"/>
              <a:ext cx="1037292" cy="10438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7B969E6-BDA2-9B40-A624-6E72B59F681C}"/>
                </a:ext>
              </a:extLst>
            </p:cNvPr>
            <p:cNvSpPr/>
            <p:nvPr/>
          </p:nvSpPr>
          <p:spPr>
            <a:xfrm>
              <a:off x="7911752" y="3188787"/>
              <a:ext cx="1786564" cy="110489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permafrost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1466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12C4-0F3E-0546-84C2-A7FA10F9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CD992-9B97-5D42-B0B9-FAB28A1F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9571"/>
            <a:ext cx="2743200" cy="365125"/>
          </a:xfrm>
        </p:spPr>
        <p:txBody>
          <a:bodyPr/>
          <a:lstStyle/>
          <a:p>
            <a:fld id="{0012C021-0C65-A14F-AE8E-3613BEE67DEE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C2DE1-5BDB-1340-9A90-1F1CA734578C}"/>
              </a:ext>
            </a:extLst>
          </p:cNvPr>
          <p:cNvSpPr txBox="1"/>
          <p:nvPr/>
        </p:nvSpPr>
        <p:spPr>
          <a:xfrm>
            <a:off x="5751200" y="266043"/>
            <a:ext cx="5487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Polygonal Tundra Model</a:t>
            </a:r>
          </a:p>
        </p:txBody>
      </p:sp>
      <p:pic>
        <p:nvPicPr>
          <p:cNvPr id="6" name="Picture 5" descr="Landscape Processes">
            <a:extLst>
              <a:ext uri="{FF2B5EF4-FFF2-40B4-BE49-F238E27FC236}">
                <a16:creationId xmlns:a16="http://schemas.microsoft.com/office/drawing/2014/main" id="{A8AEF6D6-59A5-B240-B5FA-F9EF42A77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19724" y="3778538"/>
            <a:ext cx="4624008" cy="2406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CE316B-D53D-B746-8FBB-1ED31729F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724" y="1029820"/>
            <a:ext cx="4668720" cy="2385822"/>
          </a:xfrm>
          <a:prstGeom prst="rect">
            <a:avLst/>
          </a:prstGeom>
        </p:spPr>
      </p:pic>
      <p:sp>
        <p:nvSpPr>
          <p:cNvPr id="8" name="Text Box 19">
            <a:extLst>
              <a:ext uri="{FF2B5EF4-FFF2-40B4-BE49-F238E27FC236}">
                <a16:creationId xmlns:a16="http://schemas.microsoft.com/office/drawing/2014/main" id="{4E8E0E7A-E4EA-E240-9A44-EB87B7EDF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8272" y="3402457"/>
            <a:ext cx="249299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 typeface="Wingdings" pitchFamily="-72" charset="2"/>
              <a:buNone/>
            </a:pPr>
            <a:r>
              <a:rPr lang="en-US" sz="1200" dirty="0">
                <a:latin typeface="+mn-lt"/>
                <a:cs typeface="Arial" pitchFamily="34" charset="0"/>
              </a:rPr>
              <a:t>Ina </a:t>
            </a:r>
            <a:r>
              <a:rPr lang="en-US" sz="1200" dirty="0" err="1">
                <a:latin typeface="+mn-lt"/>
                <a:cs typeface="Arial" pitchFamily="34" charset="0"/>
              </a:rPr>
              <a:t>Timling</a:t>
            </a:r>
            <a:r>
              <a:rPr lang="en-US" sz="1200" dirty="0">
                <a:latin typeface="+mn-lt"/>
                <a:cs typeface="Arial" pitchFamily="34" charset="0"/>
              </a:rPr>
              <a:t>, North Slope, Alaska</a:t>
            </a: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98572F94-D5CF-AC43-9586-41832F91F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087" y="6163908"/>
            <a:ext cx="30556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Font typeface="Wingdings" pitchFamily="-72" charset="2"/>
              <a:buNone/>
            </a:pPr>
            <a:r>
              <a:rPr lang="en-US" sz="1200" dirty="0" err="1">
                <a:latin typeface="+mn-lt"/>
              </a:rPr>
              <a:t>Konstanze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</a:rPr>
              <a:t>Piel</a:t>
            </a:r>
            <a:r>
              <a:rPr lang="en-US" sz="1200" dirty="0">
                <a:latin typeface="+mn-lt"/>
              </a:rPr>
              <a:t>, Lina River Delta, Siberia</a:t>
            </a:r>
            <a:endParaRPr lang="en-US" sz="1200" i="1" dirty="0">
              <a:latin typeface="+mn-lt"/>
              <a:cs typeface="Arial" pitchFamily="34" charset="0"/>
            </a:endParaRP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77C06F08-DA78-EC4E-B122-84257EEB8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892" y="1883606"/>
            <a:ext cx="5521108" cy="370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10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AC16-C525-494D-A07E-8FE36A9FB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822" y="386044"/>
            <a:ext cx="10515600" cy="1325563"/>
          </a:xfrm>
        </p:spPr>
        <p:txBody>
          <a:bodyPr/>
          <a:lstStyle/>
          <a:p>
            <a:r>
              <a:rPr lang="en-US" dirty="0"/>
              <a:t>Process Kernel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2765-AA48-5644-9244-6F308E6D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BB2346-EAF4-7141-9C04-C914206B3B13}"/>
              </a:ext>
            </a:extLst>
          </p:cNvPr>
          <p:cNvSpPr txBox="1"/>
          <p:nvPr/>
        </p:nvSpPr>
        <p:spPr>
          <a:xfrm>
            <a:off x="5728622" y="766296"/>
            <a:ext cx="5487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Polygonal Tundra Model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EF28BE5-7609-2649-AF36-9A76708BDC9D}"/>
              </a:ext>
            </a:extLst>
          </p:cNvPr>
          <p:cNvGrpSpPr/>
          <p:nvPr/>
        </p:nvGrpSpPr>
        <p:grpSpPr>
          <a:xfrm>
            <a:off x="2035" y="1289516"/>
            <a:ext cx="10933824" cy="4900891"/>
            <a:chOff x="419976" y="1410292"/>
            <a:chExt cx="10933824" cy="490089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70A76F9-D292-6E4E-939A-0B8DF25833C5}"/>
                </a:ext>
              </a:extLst>
            </p:cNvPr>
            <p:cNvSpPr/>
            <p:nvPr/>
          </p:nvSpPr>
          <p:spPr>
            <a:xfrm>
              <a:off x="5841501" y="1410292"/>
              <a:ext cx="1331685" cy="1179284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weak coupler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F7D617D8-60DC-784D-8428-80B3BE1DC618}"/>
                </a:ext>
              </a:extLst>
            </p:cNvPr>
            <p:cNvSpPr/>
            <p:nvPr/>
          </p:nvSpPr>
          <p:spPr>
            <a:xfrm>
              <a:off x="7813779" y="4452476"/>
              <a:ext cx="158931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surface flow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12D8D8F-048D-7A48-AD64-95FADD840892}"/>
                </a:ext>
              </a:extLst>
            </p:cNvPr>
            <p:cNvCxnSpPr>
              <a:cxnSpLocks/>
              <a:stCxn id="52" idx="3"/>
              <a:endCxn id="47" idx="0"/>
            </p:cNvCxnSpPr>
            <p:nvPr/>
          </p:nvCxnSpPr>
          <p:spPr>
            <a:xfrm flipH="1">
              <a:off x="8608437" y="3594901"/>
              <a:ext cx="261636" cy="8575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96BDDB6-2ED7-6040-A7C1-022396E7E1FA}"/>
                </a:ext>
              </a:extLst>
            </p:cNvPr>
            <p:cNvCxnSpPr>
              <a:cxnSpLocks/>
              <a:stCxn id="52" idx="1"/>
              <a:endCxn id="46" idx="5"/>
            </p:cNvCxnSpPr>
            <p:nvPr/>
          </p:nvCxnSpPr>
          <p:spPr>
            <a:xfrm flipH="1" flipV="1">
              <a:off x="6978165" y="2416874"/>
              <a:ext cx="1891908" cy="39674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6FEF05E7-97DA-E34F-A752-7CE281841951}"/>
                </a:ext>
              </a:extLst>
            </p:cNvPr>
            <p:cNvSpPr/>
            <p:nvPr/>
          </p:nvSpPr>
          <p:spPr>
            <a:xfrm>
              <a:off x="9696475" y="4452475"/>
              <a:ext cx="1657325" cy="638629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66000">
                  <a:srgbClr val="D2B489"/>
                </a:gs>
                <a:gs pos="100000">
                  <a:srgbClr val="D49000"/>
                </a:gs>
              </a:gsLst>
              <a:lin ang="135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PK: surface energy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58DAB89-F7E3-D644-B655-D5E58774DE94}"/>
                </a:ext>
              </a:extLst>
            </p:cNvPr>
            <p:cNvCxnSpPr>
              <a:cxnSpLocks/>
              <a:stCxn id="52" idx="5"/>
              <a:endCxn id="50" idx="0"/>
            </p:cNvCxnSpPr>
            <p:nvPr/>
          </p:nvCxnSpPr>
          <p:spPr>
            <a:xfrm>
              <a:off x="10133365" y="3594901"/>
              <a:ext cx="391773" cy="8575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5FDB064-446B-1146-8DFA-5DAAB245E0C7}"/>
                </a:ext>
              </a:extLst>
            </p:cNvPr>
            <p:cNvSpPr/>
            <p:nvPr/>
          </p:nvSpPr>
          <p:spPr>
            <a:xfrm>
              <a:off x="8608437" y="2651811"/>
              <a:ext cx="1786564" cy="110489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strong coupler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C04ABCA-70D8-924A-8761-D485538DF656}"/>
                </a:ext>
              </a:extLst>
            </p:cNvPr>
            <p:cNvSpPr/>
            <p:nvPr/>
          </p:nvSpPr>
          <p:spPr>
            <a:xfrm>
              <a:off x="3106491" y="2577426"/>
              <a:ext cx="1331685" cy="1179284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MPC: column coupler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5639CD7-08F8-2B49-88BD-0F6CE4DE1678}"/>
                </a:ext>
              </a:extLst>
            </p:cNvPr>
            <p:cNvCxnSpPr>
              <a:cxnSpLocks/>
              <a:stCxn id="46" idx="3"/>
              <a:endCxn id="53" idx="7"/>
            </p:cNvCxnSpPr>
            <p:nvPr/>
          </p:nvCxnSpPr>
          <p:spPr>
            <a:xfrm flipH="1">
              <a:off x="4243155" y="2416874"/>
              <a:ext cx="1793367" cy="3332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6C14319-46EB-4B44-91DA-E56B9597E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9976" y="4576308"/>
              <a:ext cx="2175329" cy="1734875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86C6381-CA8D-9E49-92B4-D037049DA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1271" y="4576308"/>
              <a:ext cx="2175329" cy="1734875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F133A26-3091-254C-8226-E59335174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82566" y="4576308"/>
              <a:ext cx="2175329" cy="1734875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0CBF6DD-5A47-794B-B213-4F89317E1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63861" y="4576308"/>
              <a:ext cx="2175329" cy="173487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4DF7A0D-D0E3-D146-9D6E-6953E3E01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45156" y="4576308"/>
              <a:ext cx="2175329" cy="1734875"/>
            </a:xfrm>
            <a:prstGeom prst="rect">
              <a:avLst/>
            </a:prstGeom>
          </p:spPr>
        </p:pic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839DBD9-D158-B046-9B6E-6FACF9210005}"/>
                </a:ext>
              </a:extLst>
            </p:cNvPr>
            <p:cNvCxnSpPr/>
            <p:nvPr/>
          </p:nvCxnSpPr>
          <p:spPr>
            <a:xfrm>
              <a:off x="4987563" y="5297715"/>
              <a:ext cx="665843" cy="0"/>
            </a:xfrm>
            <a:prstGeom prst="line">
              <a:avLst/>
            </a:prstGeom>
            <a:ln w="1174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1ED6A389-0253-524B-8D5E-404275C08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41501" y="4576308"/>
              <a:ext cx="2175329" cy="1734875"/>
            </a:xfrm>
            <a:prstGeom prst="rect">
              <a:avLst/>
            </a:prstGeom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C963B3E-1699-9F4B-B561-08BA66E341CB}"/>
                </a:ext>
              </a:extLst>
            </p:cNvPr>
            <p:cNvCxnSpPr>
              <a:cxnSpLocks/>
            </p:cNvCxnSpPr>
            <p:nvPr/>
          </p:nvCxnSpPr>
          <p:spPr>
            <a:xfrm>
              <a:off x="1177664" y="4339771"/>
              <a:ext cx="1" cy="2365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870D8FE-9457-A345-91C8-EEB706FC4176}"/>
                </a:ext>
              </a:extLst>
            </p:cNvPr>
            <p:cNvCxnSpPr>
              <a:cxnSpLocks/>
            </p:cNvCxnSpPr>
            <p:nvPr/>
          </p:nvCxnSpPr>
          <p:spPr>
            <a:xfrm>
              <a:off x="1849790" y="4339770"/>
              <a:ext cx="1" cy="2365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E24E9B8-2027-F646-94D0-A9154B7311F3}"/>
                </a:ext>
              </a:extLst>
            </p:cNvPr>
            <p:cNvCxnSpPr>
              <a:cxnSpLocks/>
            </p:cNvCxnSpPr>
            <p:nvPr/>
          </p:nvCxnSpPr>
          <p:spPr>
            <a:xfrm>
              <a:off x="2521916" y="4339769"/>
              <a:ext cx="1" cy="2365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673C1CD-9862-0540-A215-EC56FBFD3A35}"/>
                </a:ext>
              </a:extLst>
            </p:cNvPr>
            <p:cNvCxnSpPr>
              <a:cxnSpLocks/>
            </p:cNvCxnSpPr>
            <p:nvPr/>
          </p:nvCxnSpPr>
          <p:spPr>
            <a:xfrm>
              <a:off x="3194042" y="4339768"/>
              <a:ext cx="1" cy="2365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EEA30B7-C302-B243-A183-E4C4D309C36D}"/>
                </a:ext>
              </a:extLst>
            </p:cNvPr>
            <p:cNvCxnSpPr>
              <a:cxnSpLocks/>
            </p:cNvCxnSpPr>
            <p:nvPr/>
          </p:nvCxnSpPr>
          <p:spPr>
            <a:xfrm>
              <a:off x="3866168" y="4339767"/>
              <a:ext cx="1" cy="2365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085C5CB-FF5C-BB47-8F21-8A7C959D01E3}"/>
                </a:ext>
              </a:extLst>
            </p:cNvPr>
            <p:cNvCxnSpPr>
              <a:cxnSpLocks/>
            </p:cNvCxnSpPr>
            <p:nvPr/>
          </p:nvCxnSpPr>
          <p:spPr>
            <a:xfrm>
              <a:off x="6554671" y="4339766"/>
              <a:ext cx="1" cy="2365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555BA8B-B561-614A-BF99-2210DEC11F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4837" y="4339766"/>
              <a:ext cx="5369834" cy="204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5C9E6FB-C0F6-954D-9B42-9FABC2919E93}"/>
                </a:ext>
              </a:extLst>
            </p:cNvPr>
            <p:cNvCxnSpPr>
              <a:cxnSpLocks/>
              <a:stCxn id="53" idx="4"/>
            </p:cNvCxnSpPr>
            <p:nvPr/>
          </p:nvCxnSpPr>
          <p:spPr>
            <a:xfrm>
              <a:off x="3772334" y="3756710"/>
              <a:ext cx="2107" cy="60346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2014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701D-728E-C44E-BF95-70827F40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Kernels &amp; Multi-Process Couplers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DDC93-1C0B-CD43-A742-347CE4C67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971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Why?</a:t>
            </a:r>
          </a:p>
          <a:p>
            <a:r>
              <a:rPr lang="en-US" i="1" dirty="0"/>
              <a:t>Flexibility &amp; Rapid development</a:t>
            </a:r>
            <a:r>
              <a:rPr lang="en-US" dirty="0"/>
              <a:t> </a:t>
            </a:r>
            <a:br>
              <a:rPr lang="en-US" dirty="0"/>
            </a:br>
            <a:r>
              <a:rPr lang="en-US" sz="2400" dirty="0"/>
              <a:t>Create new models from existing parts by writing custom couplers.</a:t>
            </a:r>
          </a:p>
          <a:p>
            <a:r>
              <a:rPr lang="en-US" i="1" dirty="0"/>
              <a:t>Code Reuse</a:t>
            </a:r>
            <a:br>
              <a:rPr lang="en-US" dirty="0"/>
            </a:br>
            <a:r>
              <a:rPr lang="en-US" sz="2400" dirty="0"/>
              <a:t>One PK means one place to add features and fix bugs.</a:t>
            </a:r>
          </a:p>
          <a:p>
            <a:r>
              <a:rPr lang="en-US" i="1" dirty="0"/>
              <a:t>Better Testing</a:t>
            </a:r>
            <a:br>
              <a:rPr lang="en-US" dirty="0"/>
            </a:br>
            <a:r>
              <a:rPr lang="en-US" sz="2400" dirty="0"/>
              <a:t>Test in isolation, then test while coupled.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9376-DE30-E047-A899-EF2EE027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37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2" y="1690688"/>
            <a:ext cx="11353800" cy="4351338"/>
          </a:xfrm>
        </p:spPr>
        <p:txBody>
          <a:bodyPr/>
          <a:lstStyle/>
          <a:p>
            <a:r>
              <a:rPr lang="en-US" dirty="0"/>
              <a:t>PKs are made up of many </a:t>
            </a:r>
            <a:r>
              <a:rPr lang="en-US" i="1" dirty="0"/>
              <a:t>terms</a:t>
            </a:r>
            <a:r>
              <a:rPr lang="en-US" dirty="0"/>
              <a:t> or </a:t>
            </a:r>
            <a:r>
              <a:rPr lang="en-US" i="1" dirty="0"/>
              <a:t>variables</a:t>
            </a:r>
            <a:r>
              <a:rPr lang="en-US" dirty="0"/>
              <a:t> in an equation</a:t>
            </a:r>
          </a:p>
          <a:p>
            <a:r>
              <a:rPr lang="en-US" dirty="0"/>
              <a:t>Each term is a point of customization or process uncertainty.</a:t>
            </a:r>
          </a:p>
          <a:p>
            <a:r>
              <a:rPr lang="en-US" dirty="0"/>
              <a:t>Conceptually, each term in an equation is one of:</a:t>
            </a:r>
          </a:p>
          <a:p>
            <a:pPr lvl="1"/>
            <a:r>
              <a:rPr lang="en-US" dirty="0"/>
              <a:t>Primary variable – the variable to be solved</a:t>
            </a:r>
          </a:p>
          <a:p>
            <a:pPr lvl="1"/>
            <a:r>
              <a:rPr lang="en-US" dirty="0"/>
              <a:t>Independent variable – data provided by the user</a:t>
            </a:r>
          </a:p>
          <a:p>
            <a:pPr lvl="1"/>
            <a:r>
              <a:rPr lang="en-US" dirty="0"/>
              <a:t>Secondary variable – a function of other variables</a:t>
            </a:r>
          </a:p>
          <a:p>
            <a:pPr lvl="2"/>
            <a:r>
              <a:rPr lang="en-US" dirty="0"/>
              <a:t>Residual – a secondary variable representing the misfit or error of an equation, given a value of the primary variables.</a:t>
            </a:r>
          </a:p>
          <a:p>
            <a:pPr lvl="2"/>
            <a:r>
              <a:rPr lang="en-US" dirty="0"/>
              <a:t>Alias – a secondary variable that shares memory with its only dependency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4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95E6-6017-F144-9E2B-A3E3BFAE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58CD5-5B26-3642-8E11-B8E5B9A757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Richards’ Equation</a:t>
                </a:r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Constitutive Equation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58CD5-5B26-3642-8E11-B8E5B9A75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AB04F-63B5-F34E-AE3E-6A1D37D0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948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8EA5B-7A07-B0B5-2CA8-E2282E649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7DB5-0629-9C12-0EE6-6E6292F8E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040E2-CAA8-71B6-B947-B023EF4B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8B404-BB20-0FEC-0B2D-194C17ECAC22}"/>
              </a:ext>
            </a:extLst>
          </p:cNvPr>
          <p:cNvSpPr txBox="1"/>
          <p:nvPr/>
        </p:nvSpPr>
        <p:spPr>
          <a:xfrm>
            <a:off x="5844902" y="1737283"/>
            <a:ext cx="23291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secondary variable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C0EF0-776B-3CA0-0866-2736C5706789}"/>
              </a:ext>
            </a:extLst>
          </p:cNvPr>
          <p:cNvSpPr txBox="1"/>
          <p:nvPr/>
        </p:nvSpPr>
        <p:spPr>
          <a:xfrm>
            <a:off x="4057271" y="4954569"/>
            <a:ext cx="20526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primary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2E58E-DBF0-F766-8AD2-9DFD8636720C}"/>
              </a:ext>
            </a:extLst>
          </p:cNvPr>
          <p:cNvSpPr txBox="1"/>
          <p:nvPr/>
        </p:nvSpPr>
        <p:spPr>
          <a:xfrm>
            <a:off x="9500291" y="2662684"/>
            <a:ext cx="26193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independent variable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8AA6B1-658B-C324-B409-3BC7984D13A3}"/>
              </a:ext>
            </a:extLst>
          </p:cNvPr>
          <p:cNvCxnSpPr>
            <a:cxnSpLocks/>
          </p:cNvCxnSpPr>
          <p:nvPr/>
        </p:nvCxnSpPr>
        <p:spPr>
          <a:xfrm>
            <a:off x="7389846" y="2183988"/>
            <a:ext cx="391885" cy="2665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71DAD6-ADDB-C3E1-310A-ADA75E781621}"/>
              </a:ext>
            </a:extLst>
          </p:cNvPr>
          <p:cNvCxnSpPr>
            <a:cxnSpLocks/>
          </p:cNvCxnSpPr>
          <p:nvPr/>
        </p:nvCxnSpPr>
        <p:spPr>
          <a:xfrm flipV="1">
            <a:off x="6181539" y="5112128"/>
            <a:ext cx="758192" cy="424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142F5A-ADF1-9E6F-D192-4842815AD57A}"/>
              </a:ext>
            </a:extLst>
          </p:cNvPr>
          <p:cNvCxnSpPr>
            <a:cxnSpLocks/>
          </p:cNvCxnSpPr>
          <p:nvPr/>
        </p:nvCxnSpPr>
        <p:spPr>
          <a:xfrm flipH="1">
            <a:off x="9766386" y="3116536"/>
            <a:ext cx="215814" cy="469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D85E41-14C2-8B73-3048-D4C902DDD778}"/>
                  </a:ext>
                </a:extLst>
              </p:cNvPr>
              <p:cNvSpPr txBox="1"/>
              <p:nvPr/>
            </p:nvSpPr>
            <p:spPr>
              <a:xfrm>
                <a:off x="1580870" y="2601128"/>
                <a:ext cx="26958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𝜙𝜌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D85E41-14C2-8B73-3048-D4C902DD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870" y="2601128"/>
                <a:ext cx="2695868" cy="553998"/>
              </a:xfrm>
              <a:prstGeom prst="rect">
                <a:avLst/>
              </a:prstGeom>
              <a:blipFill>
                <a:blip r:embed="rId2"/>
                <a:stretch>
                  <a:fillRect r="-93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10CA6B6-ADAE-0B51-39C2-5A4ABBDD1929}"/>
                  </a:ext>
                </a:extLst>
              </p:cNvPr>
              <p:cNvSpPr/>
              <p:nvPr/>
            </p:nvSpPr>
            <p:spPr>
              <a:xfrm>
                <a:off x="7945340" y="2497112"/>
                <a:ext cx="854356" cy="430887"/>
              </a:xfrm>
              <a:prstGeom prst="rect">
                <a:avLst/>
              </a:prstGeom>
              <a:solidFill>
                <a:srgbClr val="A5FFA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i="1" dirty="0" smtClean="0">
                          <a:ln w="0"/>
                          <a:solidFill>
                            <a:sysClr val="windowText" lastClr="000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j-lt"/>
                        </a:rPr>
                        <m:t>Θ</m:t>
                      </m:r>
                    </m:oMath>
                  </m:oMathPara>
                </a14:m>
                <a:endParaRPr lang="en-US" sz="3200" i="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10CA6B6-ADAE-0B51-39C2-5A4ABBDD19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340" y="2497112"/>
                <a:ext cx="854356" cy="430887"/>
              </a:xfrm>
              <a:prstGeom prst="rect">
                <a:avLst/>
              </a:prstGeom>
              <a:blipFill>
                <a:blip r:embed="rId3"/>
                <a:stretch>
                  <a:fillRect t="-2857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164A8C-0E6C-AA7C-FC50-DA6DCEB9F2AA}"/>
                  </a:ext>
                </a:extLst>
              </p:cNvPr>
              <p:cNvSpPr/>
              <p:nvPr/>
            </p:nvSpPr>
            <p:spPr>
              <a:xfrm>
                <a:off x="7354553" y="3608597"/>
                <a:ext cx="854356" cy="430887"/>
              </a:xfrm>
              <a:prstGeom prst="rect">
                <a:avLst/>
              </a:prstGeom>
              <a:solidFill>
                <a:srgbClr val="A5FFA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n w="0"/>
                          <a:solidFill>
                            <a:sysClr val="windowText" lastClr="000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3200" i="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164A8C-0E6C-AA7C-FC50-DA6DCEB9F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553" y="3608597"/>
                <a:ext cx="854356" cy="430887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1895014-0D86-49CE-E6AB-CDD2918C6839}"/>
                  </a:ext>
                </a:extLst>
              </p:cNvPr>
              <p:cNvSpPr/>
              <p:nvPr/>
            </p:nvSpPr>
            <p:spPr>
              <a:xfrm>
                <a:off x="8799696" y="3608597"/>
                <a:ext cx="854356" cy="430887"/>
              </a:xfrm>
              <a:prstGeom prst="rect">
                <a:avLst/>
              </a:prstGeom>
              <a:solidFill>
                <a:srgbClr val="62FF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1" smtClean="0">
                          <a:ln w="0"/>
                          <a:solidFill>
                            <a:sysClr val="windowText" lastClr="000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ρ</m:t>
                      </m:r>
                    </m:oMath>
                  </m:oMathPara>
                </a14:m>
                <a:endParaRPr lang="en-US" sz="3200" b="0" i="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1895014-0D86-49CE-E6AB-CDD2918C68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696" y="3608597"/>
                <a:ext cx="854356" cy="430887"/>
              </a:xfrm>
              <a:prstGeom prst="rect">
                <a:avLst/>
              </a:prstGeom>
              <a:blipFill>
                <a:blip r:embed="rId5"/>
                <a:stretch>
                  <a:fillRect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9B5A7B6-86F4-51F7-7F83-E5066D4B0731}"/>
                  </a:ext>
                </a:extLst>
              </p:cNvPr>
              <p:cNvSpPr/>
              <p:nvPr/>
            </p:nvSpPr>
            <p:spPr>
              <a:xfrm>
                <a:off x="7158610" y="4803353"/>
                <a:ext cx="854356" cy="430887"/>
              </a:xfrm>
              <a:prstGeom prst="rect">
                <a:avLst/>
              </a:prstGeom>
              <a:solidFill>
                <a:srgbClr val="FF8A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n w="0"/>
                          <a:solidFill>
                            <a:sysClr val="windowText" lastClr="000000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b="0" i="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9B5A7B6-86F4-51F7-7F83-E5066D4B07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10" y="4803353"/>
                <a:ext cx="854356" cy="430887"/>
              </a:xfrm>
              <a:prstGeom prst="rect">
                <a:avLst/>
              </a:prstGeom>
              <a:blipFill>
                <a:blip r:embed="rId6"/>
                <a:stretch>
                  <a:fillRect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B92B18-F067-65AE-AB2F-7403C0383039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8372518" y="2927999"/>
            <a:ext cx="854356" cy="6805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7841FD-FDFF-3136-1BA5-E4566A681238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flipH="1">
            <a:off x="7781731" y="2927999"/>
            <a:ext cx="590787" cy="6805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E02D94-8D6A-EDEE-B5E7-98CB892E31D2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 flipH="1">
            <a:off x="7585788" y="4039484"/>
            <a:ext cx="195943" cy="7638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66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FD2FB-5331-4740-A488-1D377E910F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633" t="35144" r="59007" b="55889"/>
          <a:stretch/>
        </p:blipFill>
        <p:spPr>
          <a:xfrm>
            <a:off x="1317017" y="2516700"/>
            <a:ext cx="3982772" cy="1015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B96823-5C0D-D242-AC51-317AAED123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360" t="40910" r="15083" b="38773"/>
          <a:stretch/>
        </p:blipFill>
        <p:spPr>
          <a:xfrm>
            <a:off x="6412543" y="2450517"/>
            <a:ext cx="3982772" cy="310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64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B9F3-EDA1-8E42-A925-28994122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617E7-A561-3A4F-87C5-3A023E46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44AF4-F387-AB4D-86BB-C2DAB549CB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28" t="37505" r="52630" b="55825"/>
          <a:stretch/>
        </p:blipFill>
        <p:spPr>
          <a:xfrm>
            <a:off x="838200" y="2556588"/>
            <a:ext cx="5709670" cy="709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719F7B-BC56-8F47-AD77-A38C2D3EAF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844" t="30926" r="8652" b="36113"/>
          <a:stretch/>
        </p:blipFill>
        <p:spPr>
          <a:xfrm>
            <a:off x="6547870" y="1992378"/>
            <a:ext cx="4698648" cy="336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5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3EC2-51B7-EF4D-BEE8-380F2063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8A971-89BF-C94F-8B8B-6AF7D09B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75014-B599-9D47-B34E-8580F22CE7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214" t="23614" r="21504" b="6804"/>
          <a:stretch/>
        </p:blipFill>
        <p:spPr>
          <a:xfrm>
            <a:off x="838200" y="1848577"/>
            <a:ext cx="2361878" cy="43542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CD0E2-B700-174E-A5DB-2CCF803B0E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771" t="23291" r="16556" b="6855"/>
          <a:stretch/>
        </p:blipFill>
        <p:spPr>
          <a:xfrm>
            <a:off x="4552866" y="1848578"/>
            <a:ext cx="2669035" cy="4410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5EAAFA-1EC8-6947-80DF-7663A820BCA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431" t="23813" r="9427" b="6424"/>
          <a:stretch/>
        </p:blipFill>
        <p:spPr>
          <a:xfrm>
            <a:off x="8093404" y="1848578"/>
            <a:ext cx="3260396" cy="4354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F3D64F-539A-3C41-A985-075968A50329}"/>
              </a:ext>
            </a:extLst>
          </p:cNvPr>
          <p:cNvSpPr txBox="1"/>
          <p:nvPr/>
        </p:nvSpPr>
        <p:spPr>
          <a:xfrm>
            <a:off x="1081446" y="1400301"/>
            <a:ext cx="1926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Richards’ equation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7A492-8002-0E41-809C-B7A7E19382AC}"/>
              </a:ext>
            </a:extLst>
          </p:cNvPr>
          <p:cNvSpPr txBox="1"/>
          <p:nvPr/>
        </p:nvSpPr>
        <p:spPr>
          <a:xfrm>
            <a:off x="3959842" y="1400301"/>
            <a:ext cx="3379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Nonisothermal</a:t>
            </a:r>
            <a:r>
              <a:rPr lang="en-US" dirty="0"/>
              <a:t> Richards’ equation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D8D4F-D1F1-3341-9881-FF052193CE9B}"/>
              </a:ext>
            </a:extLst>
          </p:cNvPr>
          <p:cNvSpPr txBox="1"/>
          <p:nvPr/>
        </p:nvSpPr>
        <p:spPr>
          <a:xfrm>
            <a:off x="8226816" y="1400301"/>
            <a:ext cx="2883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Richards’ + Energy equations</a:t>
            </a:r>
          </a:p>
        </p:txBody>
      </p:sp>
    </p:spTree>
    <p:extLst>
      <p:ext uri="{BB962C8B-B14F-4D97-AF65-F5344CB8AC3E}">
        <p14:creationId xmlns:p14="http://schemas.microsoft.com/office/powerpoint/2010/main" val="4151371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D297-9605-A646-8435-CCE01BE3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Graph: Evaluators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584A3-F45A-B74F-91CD-CC196DE9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83BF6-C305-F44B-A138-C565151355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875" b="36346"/>
          <a:stretch/>
        </p:blipFill>
        <p:spPr>
          <a:xfrm>
            <a:off x="-265589" y="1938430"/>
            <a:ext cx="12592562" cy="2055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77F6FE-005A-9046-B55A-2BCBF522AC6F}"/>
              </a:ext>
            </a:extLst>
          </p:cNvPr>
          <p:cNvSpPr txBox="1"/>
          <p:nvPr/>
        </p:nvSpPr>
        <p:spPr>
          <a:xfrm>
            <a:off x="635456" y="4410227"/>
            <a:ext cx="109210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/>
              <a:t>Evaluator</a:t>
            </a:r>
            <a:r>
              <a:rPr lang="en-US" sz="2800" dirty="0"/>
              <a:t>: A class representing one node in the dependency graph.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Each evaluator only knows about its direct children.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dependency graph is </a:t>
            </a:r>
            <a:r>
              <a:rPr lang="en-US" sz="2800" i="1" dirty="0"/>
              <a:t>directed</a:t>
            </a:r>
            <a:r>
              <a:rPr lang="en-US" sz="2800" dirty="0"/>
              <a:t> and </a:t>
            </a:r>
            <a:r>
              <a:rPr lang="en-US" sz="2800" i="1" dirty="0"/>
              <a:t>acyclic.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32347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D297-9605-A646-8435-CCE01BE3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584A3-F45A-B74F-91CD-CC196DE9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1C5399-EA85-E640-B577-0669BD182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998"/>
            <a:ext cx="1089971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Why?</a:t>
            </a:r>
          </a:p>
          <a:p>
            <a:r>
              <a:rPr lang="en-US" i="1" dirty="0"/>
              <a:t>Flexibility &amp; Rapid development</a:t>
            </a:r>
            <a:r>
              <a:rPr lang="en-US" dirty="0"/>
              <a:t> </a:t>
            </a:r>
            <a:br>
              <a:rPr lang="en-US" dirty="0"/>
            </a:br>
            <a:r>
              <a:rPr lang="en-US" sz="2400" dirty="0"/>
              <a:t>Create new models from existing parts by adding new evaluators.</a:t>
            </a:r>
          </a:p>
          <a:p>
            <a:r>
              <a:rPr lang="en-US" i="1" dirty="0"/>
              <a:t>Code Reuse</a:t>
            </a:r>
            <a:br>
              <a:rPr lang="en-US" dirty="0"/>
            </a:br>
            <a:r>
              <a:rPr lang="en-US" sz="2400" dirty="0"/>
              <a:t>Multiple PKs may reuse the same evaluator.</a:t>
            </a:r>
            <a:br>
              <a:rPr lang="en-US" sz="2400" dirty="0"/>
            </a:br>
            <a:r>
              <a:rPr lang="en-US" sz="2000" dirty="0"/>
              <a:t>(density of water on the surface vs density of water in the subsurface)</a:t>
            </a:r>
          </a:p>
          <a:p>
            <a:r>
              <a:rPr lang="en-US" i="1" dirty="0"/>
              <a:t>Better Testing</a:t>
            </a:r>
            <a:br>
              <a:rPr lang="en-US" dirty="0"/>
            </a:br>
            <a:r>
              <a:rPr lang="en-US" sz="2400" dirty="0"/>
              <a:t>Test in isolation, then test as a part of PKs.</a:t>
            </a:r>
          </a:p>
          <a:p>
            <a:r>
              <a:rPr lang="en-US" dirty="0"/>
              <a:t>Potential for </a:t>
            </a:r>
            <a:r>
              <a:rPr lang="en-US" i="1" dirty="0"/>
              <a:t>task-based parallelism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C20C5-D6DF-3646-B45C-1312D53EDA65}"/>
              </a:ext>
            </a:extLst>
          </p:cNvPr>
          <p:cNvSpPr txBox="1"/>
          <p:nvPr/>
        </p:nvSpPr>
        <p:spPr>
          <a:xfrm>
            <a:off x="7277879" y="360814"/>
            <a:ext cx="4460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*Coon et al, Env. Model. Soft 2016</a:t>
            </a:r>
          </a:p>
        </p:txBody>
      </p:sp>
    </p:spTree>
    <p:extLst>
      <p:ext uri="{BB962C8B-B14F-4D97-AF65-F5344CB8AC3E}">
        <p14:creationId xmlns:p14="http://schemas.microsoft.com/office/powerpoint/2010/main" val="2271262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81"/>
            <a:ext cx="10515600" cy="1325563"/>
          </a:xfrm>
        </p:spPr>
        <p:txBody>
          <a:bodyPr/>
          <a:lstStyle/>
          <a:p>
            <a:r>
              <a:rPr lang="en-US" dirty="0"/>
              <a:t>Model Domain: Mesh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66" y="1077279"/>
            <a:ext cx="10515600" cy="203724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Domain = conceptual, Mesh = concrete, discrete representation</a:t>
            </a:r>
          </a:p>
          <a:p>
            <a:r>
              <a:rPr lang="en-US" sz="2400" dirty="0"/>
              <a:t>Unstructured meshes (though often “extruded, terrain following”)</a:t>
            </a:r>
          </a:p>
          <a:p>
            <a:r>
              <a:rPr lang="en-US" sz="2400" dirty="0"/>
              <a:t>Arbitrary </a:t>
            </a:r>
            <a:r>
              <a:rPr lang="en-US" sz="2400" dirty="0" err="1"/>
              <a:t>polyhedra</a:t>
            </a:r>
            <a:r>
              <a:rPr lang="en-US" sz="2400" dirty="0"/>
              <a:t>, pinch-outs, co-planar faces, etc.</a:t>
            </a:r>
          </a:p>
          <a:p>
            <a:r>
              <a:rPr lang="en-US" sz="2400" dirty="0"/>
              <a:t>Derived meshes (extracted columns, surface meshes)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5D71C-74DD-AE49-835E-E43541BEADA2}"/>
              </a:ext>
            </a:extLst>
          </p:cNvPr>
          <p:cNvSpPr txBox="1"/>
          <p:nvPr/>
        </p:nvSpPr>
        <p:spPr>
          <a:xfrm>
            <a:off x="7277879" y="360814"/>
            <a:ext cx="4460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*</a:t>
            </a:r>
            <a:r>
              <a:rPr lang="en-US" dirty="0" err="1"/>
              <a:t>Garimella</a:t>
            </a:r>
            <a:r>
              <a:rPr lang="en-US" dirty="0"/>
              <a:t> et al, Procedia Eng. 2014</a:t>
            </a:r>
          </a:p>
        </p:txBody>
      </p:sp>
      <p:pic>
        <p:nvPicPr>
          <p:cNvPr id="8" name="Picture 7" descr="SurfaceMesh.pdf">
            <a:extLst>
              <a:ext uri="{FF2B5EF4-FFF2-40B4-BE49-F238E27FC236}">
                <a16:creationId xmlns:a16="http://schemas.microsoft.com/office/drawing/2014/main" id="{38BD65CF-57B4-BF47-9A69-7274E43C2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4930" y="3173048"/>
            <a:ext cx="4766733" cy="32152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303F77-024A-EC4A-8488-AAD3E385EB6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6537" y="3203914"/>
            <a:ext cx="3151523" cy="3063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7871D3-894B-AC45-A895-87F931C4DA8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824" y="3181515"/>
            <a:ext cx="2735850" cy="289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71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Domain: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Geometric subsets of the domain</a:t>
            </a:r>
            <a:br>
              <a:rPr lang="en-US" dirty="0"/>
            </a:br>
            <a:r>
              <a:rPr lang="en-US" dirty="0"/>
              <a:t>(point, plane, box, boundary, labeled set)</a:t>
            </a:r>
          </a:p>
          <a:p>
            <a:r>
              <a:rPr lang="en-US" dirty="0"/>
              <a:t>Used to specify materials/model parameters, </a:t>
            </a:r>
            <a:br>
              <a:rPr lang="en-US" dirty="0"/>
            </a:br>
            <a:r>
              <a:rPr lang="en-US" dirty="0"/>
              <a:t>initial and boundary conditions, etc.</a:t>
            </a:r>
          </a:p>
          <a:p>
            <a:r>
              <a:rPr lang="en-US" dirty="0"/>
              <a:t>Region + Mesh + Entity type </a:t>
            </a:r>
            <a:r>
              <a:rPr lang="en-US" dirty="0">
                <a:sym typeface="Wingdings" pitchFamily="2" charset="2"/>
              </a:rPr>
              <a:t> Set of Entities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528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8E17-45FD-6CB2-F46E-78312552A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A0E7-F778-65C5-F4B1-76894098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9E295-04DB-4975-7170-0E42A6A66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0" y="1486615"/>
            <a:ext cx="11538859" cy="688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Tag</a:t>
            </a:r>
            <a:r>
              <a:rPr lang="en-US" dirty="0"/>
              <a:t>: a logical point in time with respect to a reference interval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77AFA-835A-8311-0B51-049B957C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ADCCC2-9CE9-BB51-863A-17A592CB5B56}"/>
              </a:ext>
            </a:extLst>
          </p:cNvPr>
          <p:cNvCxnSpPr/>
          <p:nvPr/>
        </p:nvCxnSpPr>
        <p:spPr>
          <a:xfrm>
            <a:off x="1891846" y="2887469"/>
            <a:ext cx="7627716" cy="0"/>
          </a:xfrm>
          <a:prstGeom prst="straightConnector1">
            <a:avLst/>
          </a:prstGeom>
          <a:ln w="76200"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0175CB-A3CC-8617-BBBF-A137BAC609D3}"/>
              </a:ext>
            </a:extLst>
          </p:cNvPr>
          <p:cNvSpPr txBox="1"/>
          <p:nvPr/>
        </p:nvSpPr>
        <p:spPr>
          <a:xfrm>
            <a:off x="1202394" y="3066890"/>
            <a:ext cx="1378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CURRENT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59E20-6FDE-5F57-1F44-4ADBABE002BA}"/>
              </a:ext>
            </a:extLst>
          </p:cNvPr>
          <p:cNvSpPr txBox="1"/>
          <p:nvPr/>
        </p:nvSpPr>
        <p:spPr>
          <a:xfrm>
            <a:off x="9097010" y="3066890"/>
            <a:ext cx="845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NEXT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D9AF2F-E9D2-007D-E737-A479C814CB7C}"/>
              </a:ext>
            </a:extLst>
          </p:cNvPr>
          <p:cNvCxnSpPr>
            <a:cxnSpLocks/>
          </p:cNvCxnSpPr>
          <p:nvPr/>
        </p:nvCxnSpPr>
        <p:spPr>
          <a:xfrm>
            <a:off x="9519562" y="2873896"/>
            <a:ext cx="2351309" cy="0"/>
          </a:xfrm>
          <a:prstGeom prst="straightConnector1">
            <a:avLst/>
          </a:prstGeom>
          <a:ln w="76200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EFD343-00D7-8CC8-7EC8-AA78A6F42AA8}"/>
              </a:ext>
            </a:extLst>
          </p:cNvPr>
          <p:cNvCxnSpPr>
            <a:cxnSpLocks/>
          </p:cNvCxnSpPr>
          <p:nvPr/>
        </p:nvCxnSpPr>
        <p:spPr>
          <a:xfrm>
            <a:off x="179614" y="2873896"/>
            <a:ext cx="1712232" cy="13573"/>
          </a:xfrm>
          <a:prstGeom prst="straightConnector1">
            <a:avLst/>
          </a:prstGeom>
          <a:ln w="76200">
            <a:headEnd type="triangl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119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E2DB-11F3-89CC-3D23-D3C15F48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9AF8-221B-8878-50D3-FC19C7D6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AC3AC-6C10-7EB0-1B0D-165BD395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0" y="1486615"/>
            <a:ext cx="11538859" cy="688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Tag</a:t>
            </a:r>
            <a:r>
              <a:rPr lang="en-US" dirty="0"/>
              <a:t>: a logical point in time with respect to a reference interval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A155E-3658-BC00-461F-50CC66F5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27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7BA079-0A73-FF26-A796-F2C59D88D824}"/>
              </a:ext>
            </a:extLst>
          </p:cNvPr>
          <p:cNvCxnSpPr/>
          <p:nvPr/>
        </p:nvCxnSpPr>
        <p:spPr>
          <a:xfrm>
            <a:off x="1891846" y="2887469"/>
            <a:ext cx="7627716" cy="0"/>
          </a:xfrm>
          <a:prstGeom prst="straightConnector1">
            <a:avLst/>
          </a:prstGeom>
          <a:ln w="76200"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A26D28-24FF-2B6E-14C0-16F7736ECB8C}"/>
              </a:ext>
            </a:extLst>
          </p:cNvPr>
          <p:cNvSpPr txBox="1"/>
          <p:nvPr/>
        </p:nvSpPr>
        <p:spPr>
          <a:xfrm>
            <a:off x="1202394" y="3066890"/>
            <a:ext cx="1378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CURRENT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418C5-C436-9276-A220-3B2B695B9CBD}"/>
              </a:ext>
            </a:extLst>
          </p:cNvPr>
          <p:cNvSpPr txBox="1"/>
          <p:nvPr/>
        </p:nvSpPr>
        <p:spPr>
          <a:xfrm>
            <a:off x="9097010" y="3066890"/>
            <a:ext cx="845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NEXT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19E0EF-C4F7-A813-51D2-49C97EEE5774}"/>
              </a:ext>
            </a:extLst>
          </p:cNvPr>
          <p:cNvSpPr txBox="1"/>
          <p:nvPr/>
        </p:nvSpPr>
        <p:spPr>
          <a:xfrm>
            <a:off x="4929289" y="3065305"/>
            <a:ext cx="1502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MIDPOINT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22F03B-8F87-F637-7E9A-4CF48D3EE23E}"/>
              </a:ext>
            </a:extLst>
          </p:cNvPr>
          <p:cNvSpPr/>
          <p:nvPr/>
        </p:nvSpPr>
        <p:spPr>
          <a:xfrm rot="2777254">
            <a:off x="5612379" y="2781052"/>
            <a:ext cx="244003" cy="238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004206-D8AE-BF81-1970-873D0ABC6441}"/>
              </a:ext>
            </a:extLst>
          </p:cNvPr>
          <p:cNvCxnSpPr>
            <a:cxnSpLocks/>
          </p:cNvCxnSpPr>
          <p:nvPr/>
        </p:nvCxnSpPr>
        <p:spPr>
          <a:xfrm>
            <a:off x="9519562" y="2873896"/>
            <a:ext cx="2351309" cy="0"/>
          </a:xfrm>
          <a:prstGeom prst="straightConnector1">
            <a:avLst/>
          </a:prstGeom>
          <a:ln w="76200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6253C1-A5E1-4C8C-04F9-86EE70776929}"/>
              </a:ext>
            </a:extLst>
          </p:cNvPr>
          <p:cNvCxnSpPr>
            <a:cxnSpLocks/>
          </p:cNvCxnSpPr>
          <p:nvPr/>
        </p:nvCxnSpPr>
        <p:spPr>
          <a:xfrm>
            <a:off x="179614" y="2873896"/>
            <a:ext cx="1712232" cy="13573"/>
          </a:xfrm>
          <a:prstGeom prst="straightConnector1">
            <a:avLst/>
          </a:prstGeom>
          <a:ln w="76200">
            <a:headEnd type="triangl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4A88557-52CE-33AC-D41C-7CE59F2F6F33}"/>
              </a:ext>
            </a:extLst>
          </p:cNvPr>
          <p:cNvSpPr/>
          <p:nvPr/>
        </p:nvSpPr>
        <p:spPr>
          <a:xfrm rot="2777254">
            <a:off x="553782" y="2789721"/>
            <a:ext cx="244003" cy="238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942AF-01C7-168E-4BE0-4E5E574E52A4}"/>
              </a:ext>
            </a:extLst>
          </p:cNvPr>
          <p:cNvSpPr txBox="1"/>
          <p:nvPr/>
        </p:nvSpPr>
        <p:spPr>
          <a:xfrm rot="3331426">
            <a:off x="111079" y="3714569"/>
            <a:ext cx="1454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PREVIOUS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410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3B7B-DF2E-8588-C202-E416A576D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3BE9-3303-8849-D608-F5BDE69E5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1FDBA-0214-9F5A-3FEA-CB8DB7C43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0" y="1486615"/>
            <a:ext cx="11538859" cy="688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Tag</a:t>
            </a:r>
            <a:r>
              <a:rPr lang="en-US" dirty="0"/>
              <a:t>: a logical point in time with respect to a reference interval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0ECBA-5B40-A0C1-8CFF-EABDA05B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28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BFAEE7-9125-FA27-D928-D9395DE1EEF5}"/>
              </a:ext>
            </a:extLst>
          </p:cNvPr>
          <p:cNvCxnSpPr/>
          <p:nvPr/>
        </p:nvCxnSpPr>
        <p:spPr>
          <a:xfrm>
            <a:off x="1891846" y="2887469"/>
            <a:ext cx="7627716" cy="0"/>
          </a:xfrm>
          <a:prstGeom prst="straightConnector1">
            <a:avLst/>
          </a:prstGeom>
          <a:ln w="76200"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070038-6D02-6F10-A11F-E06DAA533CB1}"/>
              </a:ext>
            </a:extLst>
          </p:cNvPr>
          <p:cNvSpPr txBox="1"/>
          <p:nvPr/>
        </p:nvSpPr>
        <p:spPr>
          <a:xfrm>
            <a:off x="1202394" y="3066890"/>
            <a:ext cx="1378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CURRENT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E930D8-753E-C36E-3633-731F17802A94}"/>
              </a:ext>
            </a:extLst>
          </p:cNvPr>
          <p:cNvSpPr txBox="1"/>
          <p:nvPr/>
        </p:nvSpPr>
        <p:spPr>
          <a:xfrm>
            <a:off x="9097010" y="3066890"/>
            <a:ext cx="845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NEXT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D37F53-D162-AC0F-FB9E-86C944EC4F5E}"/>
              </a:ext>
            </a:extLst>
          </p:cNvPr>
          <p:cNvSpPr txBox="1"/>
          <p:nvPr/>
        </p:nvSpPr>
        <p:spPr>
          <a:xfrm rot="3448626">
            <a:off x="6165736" y="4086784"/>
            <a:ext cx="2785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SUBCYCLE_CURRENT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D0C22C-372F-7DD3-04CE-D1FC73F08FDB}"/>
              </a:ext>
            </a:extLst>
          </p:cNvPr>
          <p:cNvSpPr txBox="1"/>
          <p:nvPr/>
        </p:nvSpPr>
        <p:spPr>
          <a:xfrm rot="3448626">
            <a:off x="7331332" y="3807014"/>
            <a:ext cx="2252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SUBCYCLE_NEXT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B41CA9-AA29-0DCC-46A4-DB0105E548B2}"/>
              </a:ext>
            </a:extLst>
          </p:cNvPr>
          <p:cNvSpPr/>
          <p:nvPr/>
        </p:nvSpPr>
        <p:spPr>
          <a:xfrm rot="2777254">
            <a:off x="7888912" y="2781054"/>
            <a:ext cx="244003" cy="238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3ED268-60BC-2342-306E-3E6A0A39EF67}"/>
              </a:ext>
            </a:extLst>
          </p:cNvPr>
          <p:cNvSpPr/>
          <p:nvPr/>
        </p:nvSpPr>
        <p:spPr>
          <a:xfrm rot="2777254">
            <a:off x="6864946" y="2781053"/>
            <a:ext cx="244003" cy="238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9A8853-68B7-2C9C-5C73-13038BB18477}"/>
              </a:ext>
            </a:extLst>
          </p:cNvPr>
          <p:cNvCxnSpPr>
            <a:cxnSpLocks/>
          </p:cNvCxnSpPr>
          <p:nvPr/>
        </p:nvCxnSpPr>
        <p:spPr>
          <a:xfrm>
            <a:off x="9519562" y="2873896"/>
            <a:ext cx="2351309" cy="0"/>
          </a:xfrm>
          <a:prstGeom prst="straightConnector1">
            <a:avLst/>
          </a:prstGeom>
          <a:ln w="76200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D7CC34-5DBA-D504-D65C-53B190912F04}"/>
              </a:ext>
            </a:extLst>
          </p:cNvPr>
          <p:cNvCxnSpPr>
            <a:cxnSpLocks/>
          </p:cNvCxnSpPr>
          <p:nvPr/>
        </p:nvCxnSpPr>
        <p:spPr>
          <a:xfrm>
            <a:off x="179614" y="2873896"/>
            <a:ext cx="1712232" cy="13573"/>
          </a:xfrm>
          <a:prstGeom prst="straightConnector1">
            <a:avLst/>
          </a:prstGeom>
          <a:ln w="76200">
            <a:headEnd type="triangl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387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FE1F7-94C2-B091-C60D-20C01A7D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05F1-0352-4425-5D47-DC9FE13E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B20E1-EFEB-12A2-0CFB-C7F644E37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0" y="1486615"/>
            <a:ext cx="11538859" cy="688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Tag</a:t>
            </a:r>
            <a:r>
              <a:rPr lang="en-US" dirty="0"/>
              <a:t>: a logical point in time with respect to a reference interval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AB802-AE3B-12E5-6A3A-F209E1D5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29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C17984-69FB-A88C-B93C-D6132A5C6A13}"/>
              </a:ext>
            </a:extLst>
          </p:cNvPr>
          <p:cNvCxnSpPr/>
          <p:nvPr/>
        </p:nvCxnSpPr>
        <p:spPr>
          <a:xfrm>
            <a:off x="1891846" y="2887469"/>
            <a:ext cx="7627716" cy="0"/>
          </a:xfrm>
          <a:prstGeom prst="straightConnector1">
            <a:avLst/>
          </a:prstGeom>
          <a:ln w="76200"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88652AB-D6FC-97BF-5420-A8CF9176C278}"/>
              </a:ext>
            </a:extLst>
          </p:cNvPr>
          <p:cNvSpPr txBox="1"/>
          <p:nvPr/>
        </p:nvSpPr>
        <p:spPr>
          <a:xfrm>
            <a:off x="1202394" y="3066890"/>
            <a:ext cx="1378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CURRENT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5E539-2718-5640-0E9A-2304D22E0DA1}"/>
              </a:ext>
            </a:extLst>
          </p:cNvPr>
          <p:cNvSpPr txBox="1"/>
          <p:nvPr/>
        </p:nvSpPr>
        <p:spPr>
          <a:xfrm>
            <a:off x="9097010" y="3066890"/>
            <a:ext cx="845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NEXT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F01A4-CD93-D2CF-11A3-5A9E64AD5854}"/>
              </a:ext>
            </a:extLst>
          </p:cNvPr>
          <p:cNvSpPr txBox="1"/>
          <p:nvPr/>
        </p:nvSpPr>
        <p:spPr>
          <a:xfrm rot="3448626">
            <a:off x="6165736" y="4086784"/>
            <a:ext cx="2785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SUBCYCLE_CURRENT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7133D-4838-AFF5-CFFD-163AD3C48281}"/>
              </a:ext>
            </a:extLst>
          </p:cNvPr>
          <p:cNvSpPr txBox="1"/>
          <p:nvPr/>
        </p:nvSpPr>
        <p:spPr>
          <a:xfrm rot="3448626">
            <a:off x="7331332" y="3807014"/>
            <a:ext cx="2252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SUBCYCLE_NEXT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D5AA3-6687-58F6-3023-EA64C48ABAE1}"/>
              </a:ext>
            </a:extLst>
          </p:cNvPr>
          <p:cNvSpPr/>
          <p:nvPr/>
        </p:nvSpPr>
        <p:spPr>
          <a:xfrm rot="2777254">
            <a:off x="7888912" y="2781054"/>
            <a:ext cx="244003" cy="238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A3665F-57DB-A65E-4BEA-33E625B1CE7A}"/>
              </a:ext>
            </a:extLst>
          </p:cNvPr>
          <p:cNvSpPr/>
          <p:nvPr/>
        </p:nvSpPr>
        <p:spPr>
          <a:xfrm rot="2777254">
            <a:off x="6864946" y="2781053"/>
            <a:ext cx="244003" cy="238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900A0D-C589-445A-408E-01FB03A3FBF7}"/>
              </a:ext>
            </a:extLst>
          </p:cNvPr>
          <p:cNvCxnSpPr>
            <a:cxnSpLocks/>
          </p:cNvCxnSpPr>
          <p:nvPr/>
        </p:nvCxnSpPr>
        <p:spPr>
          <a:xfrm>
            <a:off x="9519562" y="2873896"/>
            <a:ext cx="2351309" cy="0"/>
          </a:xfrm>
          <a:prstGeom prst="straightConnector1">
            <a:avLst/>
          </a:prstGeom>
          <a:ln w="76200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E0600C-0B23-ED9A-2A4A-EBFD4F90C516}"/>
              </a:ext>
            </a:extLst>
          </p:cNvPr>
          <p:cNvCxnSpPr>
            <a:cxnSpLocks/>
          </p:cNvCxnSpPr>
          <p:nvPr/>
        </p:nvCxnSpPr>
        <p:spPr>
          <a:xfrm>
            <a:off x="179614" y="2873896"/>
            <a:ext cx="1712232" cy="13573"/>
          </a:xfrm>
          <a:prstGeom prst="straightConnector1">
            <a:avLst/>
          </a:prstGeom>
          <a:ln w="76200">
            <a:headEnd type="triangl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529C17B-45ED-F048-5DA4-2329B831860D}"/>
              </a:ext>
            </a:extLst>
          </p:cNvPr>
          <p:cNvSpPr txBox="1"/>
          <p:nvPr/>
        </p:nvSpPr>
        <p:spPr>
          <a:xfrm>
            <a:off x="230617" y="4141910"/>
            <a:ext cx="62460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During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CommitStep</a:t>
            </a:r>
            <a:r>
              <a:rPr lang="en-US" sz="2400" dirty="0"/>
              <a:t> (which is called after all PKs are successful), values may be copied from NEXT </a:t>
            </a:r>
            <a:r>
              <a:rPr lang="en-US" sz="2400" dirty="0">
                <a:sym typeface="Wingdings" pitchFamily="2" charset="2"/>
              </a:rPr>
              <a:t> CURRENT tags.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During </a:t>
            </a:r>
            <a:r>
              <a:rPr lang="en-US" sz="2400" dirty="0" err="1">
                <a:sym typeface="Wingdings" pitchFamily="2" charset="2"/>
              </a:rPr>
              <a:t>FailStep</a:t>
            </a:r>
            <a:r>
              <a:rPr lang="en-US" sz="2400" dirty="0">
                <a:sym typeface="Wingdings" pitchFamily="2" charset="2"/>
              </a:rPr>
              <a:t>, values are reset,</a:t>
            </a:r>
            <a:br>
              <a:rPr lang="en-US" sz="2400" dirty="0">
                <a:sym typeface="Wingdings" pitchFamily="2" charset="2"/>
              </a:rPr>
            </a:br>
            <a:r>
              <a:rPr lang="en-US" sz="2400" dirty="0">
                <a:sym typeface="Wingdings" pitchFamily="2" charset="2"/>
              </a:rPr>
              <a:t>CURRENT  NEXT</a:t>
            </a:r>
          </a:p>
        </p:txBody>
      </p:sp>
    </p:spTree>
    <p:extLst>
      <p:ext uri="{BB962C8B-B14F-4D97-AF65-F5344CB8AC3E}">
        <p14:creationId xmlns:p14="http://schemas.microsoft.com/office/powerpoint/2010/main" val="3708366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Control: Cycle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dirty="0"/>
              <a:t>Cycle</a:t>
            </a:r>
            <a:r>
              <a:rPr lang="en-US" dirty="0"/>
              <a:t>: a single timestep (the reference interval) that advances all PKs in time by a single step size dt.</a:t>
            </a:r>
          </a:p>
          <a:p>
            <a:r>
              <a:rPr lang="en-US" dirty="0"/>
              <a:t>ATS typically uses a variable timestep size</a:t>
            </a:r>
          </a:p>
          <a:p>
            <a:pPr lvl="1"/>
            <a:r>
              <a:rPr lang="en-US" dirty="0"/>
              <a:t>Often controlled by nonlinear solver performance</a:t>
            </a:r>
          </a:p>
          <a:p>
            <a:pPr lvl="1"/>
            <a:r>
              <a:rPr lang="en-US" dirty="0"/>
              <a:t>“Failure” of the code: time step size </a:t>
            </a:r>
            <a:r>
              <a:rPr lang="en-US" dirty="0">
                <a:sym typeface="Wingdings" pitchFamily="2" charset="2"/>
              </a:rPr>
              <a:t> 0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Cycle Driver </a:t>
            </a:r>
            <a:r>
              <a:rPr lang="en-US" dirty="0"/>
              <a:t>controls the simulation:</a:t>
            </a:r>
          </a:p>
          <a:p>
            <a:pPr lvl="1"/>
            <a:r>
              <a:rPr lang="en-US" dirty="0"/>
              <a:t>begin and end time</a:t>
            </a:r>
          </a:p>
          <a:p>
            <a:pPr lvl="1"/>
            <a:r>
              <a:rPr lang="en-US" dirty="0"/>
              <a:t>end cycle, end </a:t>
            </a:r>
            <a:r>
              <a:rPr lang="en-US" dirty="0" err="1"/>
              <a:t>wallclock</a:t>
            </a:r>
            <a:r>
              <a:rPr lang="en-US" dirty="0"/>
              <a:t> duration</a:t>
            </a:r>
          </a:p>
          <a:p>
            <a:pPr lvl="1"/>
            <a:r>
              <a:rPr lang="en-US" dirty="0"/>
              <a:t>Ensures vis, checkpoint, observations happen as required</a:t>
            </a:r>
          </a:p>
          <a:p>
            <a:r>
              <a:rPr lang="en-US" dirty="0"/>
              <a:t>Includes the PK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539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505F-2648-6347-BC12-95641452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I/O: Checkpoint/Restart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12B7C-2FD7-5546-96DA-B28EEC056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08" y="1690688"/>
            <a:ext cx="10920984" cy="4351338"/>
          </a:xfrm>
        </p:spPr>
        <p:txBody>
          <a:bodyPr>
            <a:normAutofit/>
          </a:bodyPr>
          <a:lstStyle/>
          <a:p>
            <a:r>
              <a:rPr lang="en-US" dirty="0"/>
              <a:t>Checkpoint: </a:t>
            </a:r>
          </a:p>
          <a:p>
            <a:pPr lvl="1"/>
            <a:r>
              <a:rPr lang="en-US" dirty="0"/>
              <a:t>Files that contain all needed information to continue a simulation</a:t>
            </a:r>
          </a:p>
          <a:p>
            <a:pPr lvl="1"/>
            <a:r>
              <a:rPr lang="en-US" dirty="0"/>
              <a:t>Read by the code, not by the user</a:t>
            </a:r>
          </a:p>
          <a:p>
            <a:pPr lvl="1"/>
            <a:r>
              <a:rPr lang="en-US" dirty="0"/>
              <a:t>HDF5 file format</a:t>
            </a:r>
          </a:p>
          <a:p>
            <a:r>
              <a:rPr lang="en-US" dirty="0"/>
              <a:t>Restart:</a:t>
            </a:r>
          </a:p>
          <a:p>
            <a:pPr lvl="1"/>
            <a:r>
              <a:rPr lang="en-US" dirty="0"/>
              <a:t>In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“cycle driver” </a:t>
            </a:r>
            <a:r>
              <a:rPr lang="en-US" dirty="0"/>
              <a:t>list, set the option: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“restart from checkpoint file”=“/path/to/checkpoint.h5”</a:t>
            </a:r>
          </a:p>
          <a:p>
            <a:pPr lvl="1"/>
            <a:r>
              <a:rPr lang="en-US" dirty="0"/>
              <a:t>No other changes to the input file – ATS reads the time, timestep size, </a:t>
            </a:r>
            <a:r>
              <a:rPr lang="en-US" dirty="0" err="1"/>
              <a:t>etc</a:t>
            </a:r>
            <a:r>
              <a:rPr lang="en-US" dirty="0"/>
              <a:t> from the checkpoint file and continues the run.</a:t>
            </a:r>
          </a:p>
          <a:p>
            <a:pPr lvl="1"/>
            <a:r>
              <a:rPr lang="en-US" dirty="0"/>
              <a:t>Bitwise identical* to how your run stopped (except </a:t>
            </a:r>
            <a:r>
              <a:rPr lang="en-US" dirty="0">
                <a:hlinkClick r:id="rId2"/>
              </a:rPr>
              <a:t>amanzi#898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B31BB-ECED-3B41-B615-5B342BB1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088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505F-2648-6347-BC12-95641452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I/O: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12B7C-2FD7-5546-96DA-B28EEC056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1690688"/>
            <a:ext cx="1096975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Sparse in time, dense in space</a:t>
            </a:r>
          </a:p>
          <a:p>
            <a:r>
              <a:rPr lang="en-US" dirty="0"/>
              <a:t>Store all variables (by default) on time slices</a:t>
            </a:r>
          </a:p>
          <a:p>
            <a:r>
              <a:rPr lang="en-US" dirty="0"/>
              <a:t>Store values at all cells (but only cells) so can be big</a:t>
            </a:r>
          </a:p>
          <a:p>
            <a:r>
              <a:rPr lang="en-US" dirty="0"/>
              <a:t>XDMF + HDF5: </a:t>
            </a:r>
          </a:p>
          <a:p>
            <a:pPr lvl="1"/>
            <a:r>
              <a:rPr lang="en-US" dirty="0"/>
              <a:t>read natively by </a:t>
            </a:r>
            <a:r>
              <a:rPr lang="en-US" dirty="0" err="1"/>
              <a:t>VisIt</a:t>
            </a:r>
            <a:r>
              <a:rPr lang="en-US" dirty="0"/>
              <a:t> or </a:t>
            </a:r>
            <a:r>
              <a:rPr lang="en-US" dirty="0" err="1"/>
              <a:t>ParaView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ats_vis_data.VisIt.xmf</a:t>
            </a:r>
            <a:r>
              <a:rPr lang="en-US" dirty="0"/>
              <a:t> or </a:t>
            </a:r>
            <a:r>
              <a:rPr lang="en-US" dirty="0" err="1"/>
              <a:t>ats_vis_DOMAIN_data.VisIt.xmf</a:t>
            </a:r>
            <a:endParaRPr lang="en-US" dirty="0"/>
          </a:p>
          <a:p>
            <a:pPr lvl="1"/>
            <a:r>
              <a:rPr lang="en-US" dirty="0"/>
              <a:t>Python reader: $ATS_SRC_DIR/tools/utils/</a:t>
            </a:r>
            <a:r>
              <a:rPr lang="en-US" dirty="0" err="1"/>
              <a:t>ats_xdmf.py</a:t>
            </a:r>
            <a:endParaRPr lang="en-US" dirty="0"/>
          </a:p>
          <a:p>
            <a:r>
              <a:rPr lang="en-US" dirty="0"/>
              <a:t>Silo:</a:t>
            </a:r>
          </a:p>
          <a:p>
            <a:pPr lvl="1"/>
            <a:r>
              <a:rPr lang="en-US" dirty="0"/>
              <a:t>read natively by </a:t>
            </a:r>
            <a:r>
              <a:rPr lang="en-US" dirty="0" err="1"/>
              <a:t>VisIt</a:t>
            </a:r>
            <a:r>
              <a:rPr lang="en-US" dirty="0"/>
              <a:t> or </a:t>
            </a:r>
            <a:r>
              <a:rPr lang="en-US" dirty="0" err="1"/>
              <a:t>Paraview</a:t>
            </a:r>
            <a:endParaRPr lang="en-US" dirty="0"/>
          </a:p>
          <a:p>
            <a:pPr lvl="1"/>
            <a:r>
              <a:rPr lang="en-US" dirty="0"/>
              <a:t>Better for arbitrary polyhedral meshes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B31BB-ECED-3B41-B615-5B342BB1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925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505F-2648-6347-BC12-95641452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I/O: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12B7C-2FD7-5546-96DA-B28EEC056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Dense in time, sparse in space</a:t>
            </a:r>
          </a:p>
          <a:p>
            <a:r>
              <a:rPr lang="en-US" dirty="0"/>
              <a:t>Selected by the variable name, a region, and time slices</a:t>
            </a:r>
          </a:p>
          <a:p>
            <a:r>
              <a:rPr lang="en-US" dirty="0"/>
              <a:t>Accumulated on regions: average, min, max, integral, extensive integral (sum)</a:t>
            </a:r>
          </a:p>
          <a:p>
            <a:r>
              <a:rPr lang="en-US" dirty="0"/>
              <a:t>“time integrated” option allows for better tracking of fluxes</a:t>
            </a:r>
          </a:p>
          <a:p>
            <a:r>
              <a:rPr lang="en-US" dirty="0"/>
              <a:t>CSV text files read via pandas, Excel, others.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B31BB-ECED-3B41-B615-5B342BB1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96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B421-C386-7D48-88C5-5C02042E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4532C-5C17-AD4B-AA23-AE567201F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711" y="1825625"/>
            <a:ext cx="1085708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xml – intended to be read by machines, not people</a:t>
            </a:r>
          </a:p>
          <a:p>
            <a:r>
              <a:rPr lang="en-US" dirty="0"/>
              <a:t>Nested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ParameterList</a:t>
            </a:r>
            <a:r>
              <a:rPr lang="en-US" dirty="0"/>
              <a:t> correspond to classes in the code</a:t>
            </a:r>
          </a:p>
          <a:p>
            <a:r>
              <a:rPr lang="en-US" dirty="0"/>
              <a:t>Input parameters are </a:t>
            </a:r>
            <a:r>
              <a:rPr lang="en-US" dirty="0">
                <a:hlinkClick r:id="rId2"/>
              </a:rPr>
              <a:t>documented</a:t>
            </a:r>
            <a:endParaRPr lang="en-US" dirty="0"/>
          </a:p>
          <a:p>
            <a:pPr lvl="1"/>
            <a:r>
              <a:rPr lang="en-US" dirty="0"/>
              <a:t>Reasonably well, getting better all the time… </a:t>
            </a:r>
          </a:p>
          <a:p>
            <a:pPr lvl="1"/>
            <a:r>
              <a:rPr lang="en-US" dirty="0"/>
              <a:t>Converters between release versions at: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$ATS_SRC_DIR/tools/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input_converters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Never written from scratch – start from a demo or test</a:t>
            </a:r>
          </a:p>
          <a:p>
            <a:r>
              <a:rPr lang="en-US" dirty="0"/>
              <a:t>Learn your tools: fold and manipulate as XML (not text)</a:t>
            </a:r>
          </a:p>
          <a:p>
            <a:r>
              <a:rPr lang="en-US" dirty="0"/>
              <a:t>Script through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amanzi_xml</a:t>
            </a:r>
            <a:r>
              <a:rPr lang="en-US" dirty="0"/>
              <a:t> &amp;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ats_input_spec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where possible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26AAD-86AD-9447-983B-2407110B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4377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A724-8107-034F-970F-428917AB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6E999-AF80-6C48-A8A7-B0282558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BCFBBB-1547-4D4C-96B8-ACF0CC697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83" y="1356077"/>
            <a:ext cx="9619984" cy="48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24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BD-9F64-9549-9598-2A61EB18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52CE-6D6F-E541-A3FC-4BBE5F0C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90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Template for variable names:</a:t>
            </a:r>
          </a:p>
          <a:p>
            <a:pPr marL="0" indent="0" algn="ctr">
              <a:buNone/>
            </a:pPr>
            <a:r>
              <a:rPr lang="en-US" dirty="0"/>
              <a:t>&lt;DOMAIN&gt;-&lt;VARIABLE&gt;.&lt;COMPONENT&gt;.&lt;</a:t>
            </a:r>
            <a:r>
              <a:rPr lang="en-US" dirty="0" err="1"/>
              <a:t>DoF</a:t>
            </a:r>
            <a:r>
              <a:rPr lang="en-US" dirty="0"/>
              <a:t>&gt;@&lt;TAG&gt;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 err="1"/>
              <a:t>pressure.cell</a:t>
            </a:r>
            <a:endParaRPr lang="en-US" dirty="0"/>
          </a:p>
          <a:p>
            <a:r>
              <a:rPr lang="en-US" dirty="0"/>
              <a:t>surface-</a:t>
            </a:r>
            <a:r>
              <a:rPr lang="en-US" dirty="0" err="1"/>
              <a:t>ponded_depth.face</a:t>
            </a:r>
            <a:endParaRPr lang="en-US" dirty="0"/>
          </a:p>
          <a:p>
            <a:r>
              <a:rPr lang="en-US" dirty="0"/>
              <a:t>surface-area_fraction.cell.1</a:t>
            </a:r>
          </a:p>
          <a:p>
            <a:r>
              <a:rPr lang="en-US" dirty="0"/>
              <a:t>surface-total_component_concentration.cell.NO3-</a:t>
            </a:r>
          </a:p>
          <a:p>
            <a:r>
              <a:rPr lang="en-US" dirty="0" err="1"/>
              <a:t>surface-mole_fraction@transport_subcycled_next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C0D0E-0A71-2242-8C7E-2B4F1B2B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5138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EF27-D1F4-144C-8324-44DF93EF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F57F1-5312-D64A-AE76-EACA66428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05000"/>
            <a:ext cx="10713720" cy="472147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By default, all units are SI and, when they appear in documentation or the input spec, appear in brackets:</a:t>
            </a:r>
            <a:br>
              <a:rPr lang="en-US" dirty="0"/>
            </a:br>
            <a:r>
              <a:rPr lang="en-US" dirty="0"/>
              <a:t>[m], [s], [mol], [kg], [K], [Pa], [J], [W]</a:t>
            </a:r>
          </a:p>
          <a:p>
            <a:r>
              <a:rPr lang="en-US" dirty="0"/>
              <a:t>Derived units are spelled out without division, e.g.</a:t>
            </a:r>
            <a:br>
              <a:rPr lang="en-US" dirty="0"/>
            </a:br>
            <a:r>
              <a:rPr lang="en-US" dirty="0"/>
              <a:t>[mol s^-3] NOT [mol / m^3]</a:t>
            </a:r>
          </a:p>
          <a:p>
            <a:r>
              <a:rPr lang="en-US" dirty="0"/>
              <a:t>Exceptions: Energy [MJ]</a:t>
            </a:r>
          </a:p>
          <a:p>
            <a:r>
              <a:rPr lang="en-US" dirty="0" err="1"/>
              <a:t>Amanzi</a:t>
            </a:r>
            <a:r>
              <a:rPr lang="en-US" dirty="0"/>
              <a:t>–ATS includes processes for density-driven flows</a:t>
            </a:r>
            <a:br>
              <a:rPr lang="en-US" dirty="0"/>
            </a:br>
            <a:r>
              <a:rPr lang="en-US" dirty="0"/>
              <a:t>(ice vs water, salinity):</a:t>
            </a:r>
          </a:p>
          <a:p>
            <a:pPr lvl="1"/>
            <a:r>
              <a:rPr lang="en-US" dirty="0"/>
              <a:t>pressure (not head)</a:t>
            </a:r>
          </a:p>
          <a:p>
            <a:pPr lvl="1"/>
            <a:r>
              <a:rPr lang="en-US" dirty="0"/>
              <a:t>water content in mols of H2O (not m^3)</a:t>
            </a:r>
          </a:p>
          <a:p>
            <a:pPr lvl="1"/>
            <a:r>
              <a:rPr lang="en-US" dirty="0"/>
              <a:t>permeability (not hydraulic conductivity)</a:t>
            </a:r>
          </a:p>
          <a:p>
            <a:r>
              <a:rPr lang="en-US" dirty="0"/>
              <a:t>Concentration in mol ratio [</a:t>
            </a:r>
            <a:r>
              <a:rPr lang="en-US" dirty="0" err="1"/>
              <a:t>mol</a:t>
            </a:r>
            <a:r>
              <a:rPr lang="en-US" baseline="-25000" dirty="0" err="1"/>
              <a:t>C</a:t>
            </a:r>
            <a:r>
              <a:rPr lang="en-US" baseline="-25000" dirty="0"/>
              <a:t> </a:t>
            </a:r>
            <a:r>
              <a:rPr lang="en-US" dirty="0"/>
              <a:t>mol</a:t>
            </a:r>
            <a:r>
              <a:rPr lang="en-US" baseline="-25000" dirty="0"/>
              <a:t>H20</a:t>
            </a:r>
            <a:r>
              <a:rPr lang="en-US" baseline="30000" dirty="0"/>
              <a:t>-1</a:t>
            </a:r>
            <a:r>
              <a:rPr lang="en-US" dirty="0"/>
              <a:t>], similar to molality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51DE2-F7F4-B44A-AB70-BCACECA8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9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anzi_ats_template" id="{0B4802C3-36D6-A64E-85F1-670AD8715117}" vid="{661FB5CB-DFF2-C64F-AAD0-A836A698B0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27087</TotalTime>
  <Words>1692</Words>
  <Application>Microsoft Macintosh PowerPoint</Application>
  <PresentationFormat>Widescreen</PresentationFormat>
  <Paragraphs>289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Cambria Math</vt:lpstr>
      <vt:lpstr>Candara</vt:lpstr>
      <vt:lpstr>Consolas</vt:lpstr>
      <vt:lpstr>Courier New</vt:lpstr>
      <vt:lpstr>Verdana</vt:lpstr>
      <vt:lpstr>Wingdings</vt:lpstr>
      <vt:lpstr>Office Theme</vt:lpstr>
      <vt:lpstr>Concepts &amp; Fundamentals</vt:lpstr>
      <vt:lpstr>Amanzi–ATS is a Multiphysics Model</vt:lpstr>
      <vt:lpstr>ATS is a Multiphysics Model</vt:lpstr>
      <vt:lpstr>ATS is a Multiphysics Model</vt:lpstr>
      <vt:lpstr>Process Kernel (PK)</vt:lpstr>
      <vt:lpstr>Process Kernel (PK)</vt:lpstr>
      <vt:lpstr>Multi-Process Couplers (MPCs)</vt:lpstr>
      <vt:lpstr>Process Kernel Tree</vt:lpstr>
      <vt:lpstr>Process Kernel Tree</vt:lpstr>
      <vt:lpstr>Process Kernel Tree</vt:lpstr>
      <vt:lpstr>Process Kernel Tree</vt:lpstr>
      <vt:lpstr>Process Kernel Tree</vt:lpstr>
      <vt:lpstr>Process Kernel Tree</vt:lpstr>
      <vt:lpstr>Process Kernel Tree</vt:lpstr>
      <vt:lpstr>Process Kernels &amp; Multi-Process Couplers</vt:lpstr>
      <vt:lpstr>Dependency Graph</vt:lpstr>
      <vt:lpstr>Dependency Graph</vt:lpstr>
      <vt:lpstr>Dependency Graph</vt:lpstr>
      <vt:lpstr>Dependency Graph</vt:lpstr>
      <vt:lpstr>Dependency Graph</vt:lpstr>
      <vt:lpstr>Dependency Graph</vt:lpstr>
      <vt:lpstr>Dependency Graph: Evaluators</vt:lpstr>
      <vt:lpstr>Dependency Graph</vt:lpstr>
      <vt:lpstr>Model Domain: Mesh</vt:lpstr>
      <vt:lpstr>Model Domain: Regions</vt:lpstr>
      <vt:lpstr>Time dependence</vt:lpstr>
      <vt:lpstr>Time dependence</vt:lpstr>
      <vt:lpstr>Time dependence</vt:lpstr>
      <vt:lpstr>Time dependence</vt:lpstr>
      <vt:lpstr>Simulation Control: Cycle Driver</vt:lpstr>
      <vt:lpstr>Model I/O: Checkpoint/Restart</vt:lpstr>
      <vt:lpstr>Model I/O: Visualization</vt:lpstr>
      <vt:lpstr>Model I/O: Observations</vt:lpstr>
      <vt:lpstr>Input File</vt:lpstr>
      <vt:lpstr>Input File</vt:lpstr>
      <vt:lpstr>Variable Naming</vt:lpstr>
      <vt:lpstr>Units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 Course – Sept 1&amp;2, 2021</dc:title>
  <dc:creator>Coon, Ethan</dc:creator>
  <cp:lastModifiedBy>Coon, Ethan</cp:lastModifiedBy>
  <cp:revision>53</cp:revision>
  <dcterms:created xsi:type="dcterms:W3CDTF">2021-08-09T13:15:09Z</dcterms:created>
  <dcterms:modified xsi:type="dcterms:W3CDTF">2025-09-04T18:16:40Z</dcterms:modified>
</cp:coreProperties>
</file>