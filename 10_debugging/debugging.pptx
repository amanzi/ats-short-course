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91" r:id="rId2"/>
    <p:sldId id="342" r:id="rId3"/>
    <p:sldId id="400" r:id="rId4"/>
    <p:sldId id="383" r:id="rId5"/>
    <p:sldId id="384" r:id="rId6"/>
    <p:sldId id="1498" r:id="rId7"/>
    <p:sldId id="1500" r:id="rId8"/>
    <p:sldId id="1499" r:id="rId9"/>
    <p:sldId id="1501" r:id="rId10"/>
    <p:sldId id="341" r:id="rId11"/>
    <p:sldId id="344" r:id="rId12"/>
    <p:sldId id="345" r:id="rId13"/>
    <p:sldId id="346" r:id="rId14"/>
    <p:sldId id="267" r:id="rId15"/>
    <p:sldId id="385" r:id="rId16"/>
    <p:sldId id="398" r:id="rId17"/>
    <p:sldId id="399" r:id="rId18"/>
    <p:sldId id="343" r:id="rId19"/>
    <p:sldId id="349" r:id="rId20"/>
    <p:sldId id="348" r:id="rId21"/>
    <p:sldId id="292" r:id="rId22"/>
    <p:sldId id="2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E4A"/>
    <a:srgbClr val="6B5032"/>
    <a:srgbClr val="3F6E35"/>
    <a:srgbClr val="71A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29"/>
    <p:restoredTop sz="96197"/>
  </p:normalViewPr>
  <p:slideViewPr>
    <p:cSldViewPr snapToGrid="0" snapToObjects="1">
      <p:cViewPr varScale="1">
        <p:scale>
          <a:sx n="110" d="100"/>
          <a:sy n="110" d="100"/>
        </p:scale>
        <p:origin x="208" y="472"/>
      </p:cViewPr>
      <p:guideLst>
        <p:guide orient="horz" pos="32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30B58-D64B-1640-9CD7-3FB200F5DF37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ED748-4A5B-5E46-9696-C5A46FE41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0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3D17-8D20-8640-8AFA-64C20E91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02" y="2227866"/>
            <a:ext cx="11372196" cy="132972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72031-FD30-9643-8CB7-B95CA0CE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3611452"/>
            <a:ext cx="11372196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6B642-59AE-2442-84FD-7AE8E8AC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E824D4-F2D7-CE47-A23E-36588576BF4F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195492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FD503E-B97A-5341-953D-072BC0488E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06446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8C7EA8-805D-704D-9C46-7A2B88FA389E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17400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5A4CB026-A1EC-6944-B19B-95B9848E04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6176" y="239814"/>
            <a:ext cx="7635922" cy="19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5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4565-C881-2745-AE7B-0305281D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4921-C005-284D-BC0E-A9C93F0C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D9D8-F842-5F43-93EC-D262899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8282"/>
            <a:ext cx="2743200" cy="365125"/>
          </a:xfrm>
        </p:spPr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8C1158E0-B140-1C49-BB57-66D55A4819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517392-EF32-1B4A-B887-591E7982436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066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7315CF-E85C-E644-B0BA-BEC309082D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835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A46F9F-3DFE-9A40-BE11-887E328766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592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6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7E68-4DC4-FA49-9A24-E408AB37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67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9FAB4-73C5-9845-854F-0E816D0E7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9662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B8D1-62D1-664B-80A1-47BFB988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342125-3367-694C-AC3A-9611DBFCD62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56801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73C6AC-C89B-A04D-B3FD-8933B82200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67755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D58F22-2868-114C-8991-4E8A85642E7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78709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E23505FE-FBD4-8A49-B01B-6B77333915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5385702"/>
            <a:ext cx="5391524" cy="140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AD78-92AE-DA49-B5F5-3862B41F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E022-2221-0049-8A6F-B69883F9F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7A401-0407-3A4E-AF10-8D7D21A2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1C684-159A-6649-935A-5644D6D1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879C285-E6DE-C849-9CB2-8F06D0956F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BEBEBA-BDB3-FF43-B0EB-2C659B4EFBAC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C92EEB-FA32-9340-9A19-08F29B24A38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35F12F-BA9C-EE40-AB2E-B02DE040ACE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3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9B30-3E3B-3E47-8C1D-90EE1AD7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8830-69C4-7548-8A18-DB6EEC23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DEC3-8E5C-9849-82EE-31949FDF7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79C10-9BBC-3042-BBDB-8DE500EE9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8D187-7EF6-3F49-9463-F9CA1B0CA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EE1A8-6010-4546-B9FE-5237749C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C0FEAF6-3D3C-A145-88E2-A2C07B789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92DA9C-ADAF-4D40-8921-719E20F03DD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86DE51-DCB8-0F4F-B754-F27101BB9F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653AC4-4736-A544-9859-499E8BC0CF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23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3891-B5EA-D84F-85DA-BB5C8E4B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CCB9A-D2BE-E24A-ABA4-D3F05817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BE7C83BC-4CA0-9A47-8C49-E428365DA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48DF37-D370-EC45-B41A-3A248C580C0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8A1CC7-A92E-554C-BBE7-30C6AD38DC7F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99D8B-F8C1-6946-83A0-680C797743B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9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9330-3866-D74B-A43B-9B2FB09F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FFD6-80D0-EF49-B105-EEE3A6BC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66FB-0514-2644-A883-1DA61F0D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3E22F-36D9-7949-A476-098F92A8C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EC97E-6B30-1C4B-955C-DA460062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4C5083F-B6EF-294F-A320-4726C321D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0B4FBA-7050-924F-AC27-E30AEDDDF8C4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B97BA-36AC-2E45-8235-E8535F9B11C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755994-9FFA-044E-B8C9-5B8A5EA642A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0D15-F612-3F4C-83F5-D83FFBA3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4F7F4-5402-7844-99D8-E4C531D7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6731-A9FA-9F4D-9559-AD665D5B1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F70B1-E6BD-734B-B146-FEAA4C96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85BF69B-1F80-074D-B374-4DD091AC7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F18A07-FA13-E044-9CEF-8E6B6C331B25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34E5B0-AA7E-E447-8AD5-3D04348BC4A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2AAB7C-A39E-4A46-BC02-C437592499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9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7E99-E1BC-3641-9EE3-BB5FBD79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4286-2101-BC4C-B17D-D9EFB04B2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D7433-A6CE-B34F-9CB0-4F76F33C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2732685-DCB2-6240-836C-6713FA944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E3C1CA-9220-1848-99B3-1B82F34D8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17987A-CEF6-BB4E-A5C5-22BA936D85A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986916-7F77-594E-8828-D541F0747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56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B6E50-EF73-D143-ABCB-A18C2DE04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B2CF7-7C6C-064C-A3FC-0281ED738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BF6BA-1D90-A842-9C10-2F765D20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3D36005-E914-3D41-919D-18CB97F14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A55947-1FF9-B644-866B-2ED34C78BEA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109509-2E60-BA46-AA42-3A7BC303AF9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AE987-6CB9-714B-B85F-D587ABB7B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33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872BD-AD1F-7D48-A18B-412D6C5E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1F3C-4F81-B842-91D0-48CAA129A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E69D4-2DFC-DB44-A484-1A2E18D6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C021-0C65-A14F-AE8E-3613BEE67D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8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371/journal.pcbi.1007007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nzi/ats-regression-tests/" TargetMode="External"/><Relationship Id="rId2" Type="http://schemas.openxmlformats.org/officeDocument/2006/relationships/hyperlink" Target="https://github.com/amanzi/ats-demo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ts-users@googlegroups.com" TargetMode="External"/><Relationship Id="rId2" Type="http://schemas.openxmlformats.org/officeDocument/2006/relationships/hyperlink" Target="https://github.com/amanzi/ats/wiki/FAQ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manzi/ats/issue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help/how-to-ask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9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hyperlink" Target="https://amanzi.github.io/ats" TargetMode="External"/><Relationship Id="rId3" Type="http://schemas.openxmlformats.org/officeDocument/2006/relationships/hyperlink" Target="https://groups.google.com/g/ats-users" TargetMode="External"/><Relationship Id="rId7" Type="http://schemas.openxmlformats.org/officeDocument/2006/relationships/hyperlink" Target="https://github.com/amanzi/ats-regression-tests" TargetMode="External"/><Relationship Id="rId2" Type="http://schemas.openxmlformats.org/officeDocument/2006/relationships/hyperlink" Target="mailto:ats-users@googlegroup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manzi/ats-demos" TargetMode="External"/><Relationship Id="rId5" Type="http://schemas.openxmlformats.org/officeDocument/2006/relationships/hyperlink" Target="https://github.com/amanzi/ats" TargetMode="External"/><Relationship Id="rId4" Type="http://schemas.openxmlformats.org/officeDocument/2006/relationships/hyperlink" Target="https://github.com/amanzi/amanzi" TargetMode="External"/><Relationship Id="rId9" Type="http://schemas.openxmlformats.org/officeDocument/2006/relationships/hyperlink" Target="https://github.com/amanzi/ats/wiki/FAQ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AEA1-E96B-F645-AD6B-FAF619840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Debugging &amp; Getting Help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36D47-9ED6-CA4A-B77A-EFE589D22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4196069"/>
            <a:ext cx="6118914" cy="2714397"/>
          </a:xfrm>
        </p:spPr>
        <p:txBody>
          <a:bodyPr/>
          <a:lstStyle/>
          <a:p>
            <a:r>
              <a:rPr lang="en-US" sz="3000" dirty="0"/>
              <a:t>Ethan Coon</a:t>
            </a:r>
          </a:p>
          <a:p>
            <a:pPr>
              <a:spcBef>
                <a:spcPts val="1000"/>
              </a:spcBef>
            </a:pPr>
            <a:r>
              <a:rPr lang="en-US" dirty="0"/>
              <a:t>Oak Ridge National Laboratory</a:t>
            </a:r>
          </a:p>
        </p:txBody>
      </p:sp>
    </p:spTree>
    <p:extLst>
      <p:ext uri="{BB962C8B-B14F-4D97-AF65-F5344CB8AC3E}">
        <p14:creationId xmlns:p14="http://schemas.microsoft.com/office/powerpoint/2010/main" val="4090140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02D7-5721-F94B-B255-C9558515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6B63-ABE9-0D48-BB1F-786BE5B68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a lot of ways that things can go wrong.</a:t>
            </a:r>
          </a:p>
          <a:p>
            <a:r>
              <a:rPr lang="en-US" dirty="0"/>
              <a:t>incorrect input spec (should error)</a:t>
            </a:r>
          </a:p>
          <a:p>
            <a:r>
              <a:rPr lang="en-US" dirty="0"/>
              <a:t>bad input data (could run but give the "wrong" answer)</a:t>
            </a:r>
          </a:p>
          <a:p>
            <a:r>
              <a:rPr lang="en-US" dirty="0"/>
              <a:t>bad parameters (could run but very slowly)</a:t>
            </a:r>
          </a:p>
          <a:p>
            <a:r>
              <a:rPr lang="en-US" dirty="0"/>
              <a:t>bad physics (could do anything)</a:t>
            </a:r>
          </a:p>
          <a:p>
            <a:r>
              <a:rPr lang="en-US" dirty="0"/>
              <a:t>incorrect code (could do anything)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62CA7-5EBF-B84C-B230-7278B323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95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AE9B9B-CD4B-3842-8208-E7292DD2653F}"/>
              </a:ext>
            </a:extLst>
          </p:cNvPr>
          <p:cNvSpPr/>
          <p:nvPr/>
        </p:nvSpPr>
        <p:spPr>
          <a:xfrm>
            <a:off x="2068502" y="38884"/>
            <a:ext cx="739533" cy="5708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FFDF30-E064-324D-83D1-9DF9BFF28E90}"/>
              </a:ext>
            </a:extLst>
          </p:cNvPr>
          <p:cNvSpPr/>
          <p:nvPr/>
        </p:nvSpPr>
        <p:spPr>
          <a:xfrm>
            <a:off x="3495442" y="2805595"/>
            <a:ext cx="1335290" cy="832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1. Plot mass balance, visualize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DE977-FD38-5A4B-869E-22318E00035B}"/>
              </a:ext>
            </a:extLst>
          </p:cNvPr>
          <p:cNvSpPr/>
          <p:nvPr/>
        </p:nvSpPr>
        <p:spPr>
          <a:xfrm>
            <a:off x="124933" y="1092844"/>
            <a:ext cx="1174723" cy="94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0. Practice Reproducible science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3CF54F-B913-E94C-8E2A-1C6C2A3CE00F}"/>
              </a:ext>
            </a:extLst>
          </p:cNvPr>
          <p:cNvSpPr/>
          <p:nvPr/>
        </p:nvSpPr>
        <p:spPr>
          <a:xfrm>
            <a:off x="5932062" y="4208339"/>
            <a:ext cx="1328792" cy="94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4. Help myself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A3191-26F4-0843-847B-C0E74D39CF24}"/>
              </a:ext>
            </a:extLst>
          </p:cNvPr>
          <p:cNvSpPr/>
          <p:nvPr/>
        </p:nvSpPr>
        <p:spPr>
          <a:xfrm>
            <a:off x="7915122" y="5792062"/>
            <a:ext cx="1328792" cy="649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5. Ask for Help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5876C1-E0DE-E943-9AC8-84A6467BC37C}"/>
              </a:ext>
            </a:extLst>
          </p:cNvPr>
          <p:cNvSpPr/>
          <p:nvPr/>
        </p:nvSpPr>
        <p:spPr>
          <a:xfrm>
            <a:off x="7919363" y="2760219"/>
            <a:ext cx="1328792" cy="94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2. Plot Timestep 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182F3D-3A5B-A844-A91A-DAFC7044CF05}"/>
              </a:ext>
            </a:extLst>
          </p:cNvPr>
          <p:cNvSpPr/>
          <p:nvPr/>
        </p:nvSpPr>
        <p:spPr>
          <a:xfrm>
            <a:off x="9858046" y="4217277"/>
            <a:ext cx="1328792" cy="94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3. Rerun with debug cells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96C3E2-4DF1-8E48-A61B-6E1E35284476}"/>
              </a:ext>
            </a:extLst>
          </p:cNvPr>
          <p:cNvSpPr/>
          <p:nvPr/>
        </p:nvSpPr>
        <p:spPr>
          <a:xfrm>
            <a:off x="3661793" y="1441834"/>
            <a:ext cx="1002588" cy="6078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Science!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92DC6A-594A-FD4F-8A7C-B915962E7583}"/>
              </a:ext>
            </a:extLst>
          </p:cNvPr>
          <p:cNvSpPr/>
          <p:nvPr/>
        </p:nvSpPr>
        <p:spPr>
          <a:xfrm>
            <a:off x="1771539" y="1108256"/>
            <a:ext cx="1333459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Did I practice reproducible science?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3F43E2-C6A4-E343-B582-E58BFD88C236}"/>
              </a:ext>
            </a:extLst>
          </p:cNvPr>
          <p:cNvSpPr/>
          <p:nvPr/>
        </p:nvSpPr>
        <p:spPr>
          <a:xfrm>
            <a:off x="1766910" y="2764498"/>
            <a:ext cx="1335290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Did the code error?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A789523-B5D7-E74B-87EB-D3EE20253685}"/>
              </a:ext>
            </a:extLst>
          </p:cNvPr>
          <p:cNvSpPr/>
          <p:nvPr/>
        </p:nvSpPr>
        <p:spPr>
          <a:xfrm>
            <a:off x="5817273" y="2765057"/>
            <a:ext cx="1554823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Do I understand what is going wrong?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64DF1A6-1F99-4A47-8083-64758BBEC665}"/>
              </a:ext>
            </a:extLst>
          </p:cNvPr>
          <p:cNvSpPr/>
          <p:nvPr/>
        </p:nvSpPr>
        <p:spPr>
          <a:xfrm>
            <a:off x="9741115" y="2773856"/>
            <a:ext cx="1554823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Is the timestep crashing or just slow overall?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C44324-CE53-AB4B-8DBB-C07DC0EA0423}"/>
              </a:ext>
            </a:extLst>
          </p:cNvPr>
          <p:cNvSpPr/>
          <p:nvPr/>
        </p:nvSpPr>
        <p:spPr>
          <a:xfrm>
            <a:off x="7915122" y="4237939"/>
            <a:ext cx="1328792" cy="88602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Can I fix it?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AACCC6-4FD1-614E-903A-FA04F920B396}"/>
              </a:ext>
            </a:extLst>
          </p:cNvPr>
          <p:cNvSpPr txBox="1"/>
          <p:nvPr/>
        </p:nvSpPr>
        <p:spPr>
          <a:xfrm>
            <a:off x="3337195" y="3959571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A2B24B-77AC-6645-9532-D54E2D3C5FBD}"/>
              </a:ext>
            </a:extLst>
          </p:cNvPr>
          <p:cNvSpPr txBox="1"/>
          <p:nvPr/>
        </p:nvSpPr>
        <p:spPr>
          <a:xfrm>
            <a:off x="3084008" y="285236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61DE2B-14D3-1745-8452-E2C99EB2FE83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2438269" y="609711"/>
            <a:ext cx="0" cy="49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9C64C9-73C6-0347-9CB7-D42EE333EB10}"/>
              </a:ext>
            </a:extLst>
          </p:cNvPr>
          <p:cNvCxnSpPr>
            <a:cxnSpLocks/>
            <a:stCxn id="14" idx="1"/>
            <a:endCxn id="6" idx="3"/>
          </p:cNvCxnSpPr>
          <p:nvPr/>
        </p:nvCxnSpPr>
        <p:spPr>
          <a:xfrm flipH="1">
            <a:off x="1299656" y="1565456"/>
            <a:ext cx="4718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F7641F7-2E87-C94D-90ED-5E884167F89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003703" y="3660428"/>
            <a:ext cx="2928359" cy="10205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C0C4638-A601-894B-9551-16D79281E30C}"/>
              </a:ext>
            </a:extLst>
          </p:cNvPr>
          <p:cNvSpPr txBox="1"/>
          <p:nvPr/>
        </p:nvSpPr>
        <p:spPr>
          <a:xfrm>
            <a:off x="6623647" y="374175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BED136-4DFC-0B4E-B621-655FF74B229C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7260854" y="4680950"/>
            <a:ext cx="65426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B6279A0-0748-EE41-B6C9-FFD4B91113AD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3102200" y="3221698"/>
            <a:ext cx="39324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05E91-3C0F-8A47-AFD0-B61A9F8B9C44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>
            <a:off x="6594685" y="3679457"/>
            <a:ext cx="1773" cy="5288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3FD367B-DA91-1D45-AA34-8EED650965DF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>
            <a:off x="7372096" y="3222257"/>
            <a:ext cx="547267" cy="105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866AA7F-5314-3846-872C-F37D0E153D43}"/>
              </a:ext>
            </a:extLst>
          </p:cNvPr>
          <p:cNvSpPr txBox="1"/>
          <p:nvPr/>
        </p:nvSpPr>
        <p:spPr>
          <a:xfrm>
            <a:off x="8145040" y="526390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59DB2D7-6005-2D40-BE4E-586F7CF4EB57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9248155" y="3231056"/>
            <a:ext cx="492960" cy="17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F20E2E2-5C49-324C-8E1B-D18DF0E31B24}"/>
              </a:ext>
            </a:extLst>
          </p:cNvPr>
          <p:cNvSpPr txBox="1"/>
          <p:nvPr/>
        </p:nvSpPr>
        <p:spPr>
          <a:xfrm>
            <a:off x="7722549" y="1788304"/>
            <a:ext cx="201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just slow overall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A0FC26-ED5A-CC4F-BDE3-1725BAE57097}"/>
              </a:ext>
            </a:extLst>
          </p:cNvPr>
          <p:cNvSpPr txBox="1"/>
          <p:nvPr/>
        </p:nvSpPr>
        <p:spPr>
          <a:xfrm>
            <a:off x="9255782" y="3815319"/>
            <a:ext cx="129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crashing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054C48-4125-C646-B691-7282E364BEDF}"/>
              </a:ext>
            </a:extLst>
          </p:cNvPr>
          <p:cNvCxnSpPr>
            <a:cxnSpLocks/>
            <a:stCxn id="10" idx="1"/>
            <a:endCxn id="18" idx="3"/>
          </p:cNvCxnSpPr>
          <p:nvPr/>
        </p:nvCxnSpPr>
        <p:spPr>
          <a:xfrm flipH="1" flipV="1">
            <a:off x="9243914" y="4680950"/>
            <a:ext cx="614132" cy="8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5AD2C2F-1F9B-F148-A4C2-BC41AAD98138}"/>
              </a:ext>
            </a:extLst>
          </p:cNvPr>
          <p:cNvCxnSpPr>
            <a:cxnSpLocks/>
            <a:stCxn id="17" idx="2"/>
            <a:endCxn id="10" idx="0"/>
          </p:cNvCxnSpPr>
          <p:nvPr/>
        </p:nvCxnSpPr>
        <p:spPr>
          <a:xfrm>
            <a:off x="10518527" y="3688256"/>
            <a:ext cx="3915" cy="5290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08230A1-B503-534C-8174-EA70324BAF60}"/>
              </a:ext>
            </a:extLst>
          </p:cNvPr>
          <p:cNvSpPr txBox="1"/>
          <p:nvPr/>
        </p:nvSpPr>
        <p:spPr>
          <a:xfrm>
            <a:off x="8465184" y="405219"/>
            <a:ext cx="218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Depends upon what you mean by “fix”…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2B83C0E-0F87-1247-B7F8-7F977DF642CA}"/>
              </a:ext>
            </a:extLst>
          </p:cNvPr>
          <p:cNvCxnSpPr>
            <a:cxnSpLocks/>
          </p:cNvCxnSpPr>
          <p:nvPr/>
        </p:nvCxnSpPr>
        <p:spPr>
          <a:xfrm flipV="1">
            <a:off x="8890558" y="5123962"/>
            <a:ext cx="0" cy="6681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06F53A8-FABA-F04B-8A96-5CE3595182F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2434555" y="2022656"/>
            <a:ext cx="3714" cy="7418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54B4759-3435-6B45-B714-E0D584576828}"/>
              </a:ext>
            </a:extLst>
          </p:cNvPr>
          <p:cNvCxnSpPr>
            <a:cxnSpLocks/>
            <a:stCxn id="5" idx="0"/>
            <a:endCxn id="11" idx="2"/>
          </p:cNvCxnSpPr>
          <p:nvPr/>
        </p:nvCxnSpPr>
        <p:spPr>
          <a:xfrm flipV="1">
            <a:off x="4163087" y="2049722"/>
            <a:ext cx="0" cy="7558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28E3661-2AB1-3C49-A29F-262C03682A60}"/>
              </a:ext>
            </a:extLst>
          </p:cNvPr>
          <p:cNvSpPr txBox="1"/>
          <p:nvPr/>
        </p:nvSpPr>
        <p:spPr>
          <a:xfrm>
            <a:off x="7343867" y="3249512"/>
            <a:ext cx="5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429E5F-3E3D-5C40-A685-0D5356A9307C}"/>
              </a:ext>
            </a:extLst>
          </p:cNvPr>
          <p:cNvSpPr txBox="1"/>
          <p:nvPr/>
        </p:nvSpPr>
        <p:spPr>
          <a:xfrm>
            <a:off x="4634790" y="3205656"/>
            <a:ext cx="1411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That’s not right!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45B8D1-1702-CA4B-B06B-AE8D25420C7A}"/>
              </a:ext>
            </a:extLst>
          </p:cNvPr>
          <p:cNvSpPr txBox="1"/>
          <p:nvPr/>
        </p:nvSpPr>
        <p:spPr>
          <a:xfrm>
            <a:off x="4852937" y="2603181"/>
            <a:ext cx="94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Too slow!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4B4E5A6-D685-574F-80F2-7F4CA5CD0EBD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4830732" y="3221699"/>
            <a:ext cx="986541" cy="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D6065A0-F960-8147-A7BE-27BF566AE8EA}"/>
              </a:ext>
            </a:extLst>
          </p:cNvPr>
          <p:cNvSpPr txBox="1"/>
          <p:nvPr/>
        </p:nvSpPr>
        <p:spPr>
          <a:xfrm>
            <a:off x="1949037" y="2207322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E8A0AF2-CCC0-EF4B-93B4-21B7C587BE6E}"/>
              </a:ext>
            </a:extLst>
          </p:cNvPr>
          <p:cNvSpPr txBox="1"/>
          <p:nvPr/>
        </p:nvSpPr>
        <p:spPr>
          <a:xfrm>
            <a:off x="1311336" y="156099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30" name="Curved Connector 229">
            <a:extLst>
              <a:ext uri="{FF2B5EF4-FFF2-40B4-BE49-F238E27FC236}">
                <a16:creationId xmlns:a16="http://schemas.microsoft.com/office/drawing/2014/main" id="{44BCFD45-2023-C148-8F81-AB3674F59E2F}"/>
              </a:ext>
            </a:extLst>
          </p:cNvPr>
          <p:cNvCxnSpPr>
            <a:cxnSpLocks/>
            <a:stCxn id="6" idx="0"/>
            <a:endCxn id="4" idx="1"/>
          </p:cNvCxnSpPr>
          <p:nvPr/>
        </p:nvCxnSpPr>
        <p:spPr>
          <a:xfrm rot="5400000" flipH="1" flipV="1">
            <a:off x="1006125" y="30468"/>
            <a:ext cx="768546" cy="1356207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E29C89B6-81AD-AE47-99B8-BC7ED25096AD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>
            <a:off x="8579518" y="5123961"/>
            <a:ext cx="0" cy="6681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B9AB3F71-3F27-2040-A1A8-5FA12645239E}"/>
              </a:ext>
            </a:extLst>
          </p:cNvPr>
          <p:cNvSpPr txBox="1"/>
          <p:nvPr/>
        </p:nvSpPr>
        <p:spPr>
          <a:xfrm>
            <a:off x="7146260" y="5488813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91" name="Freeform 290">
            <a:extLst>
              <a:ext uri="{FF2B5EF4-FFF2-40B4-BE49-F238E27FC236}">
                <a16:creationId xmlns:a16="http://schemas.microsoft.com/office/drawing/2014/main" id="{3DDEE220-E412-754F-8A40-033DBB75E9A3}"/>
              </a:ext>
            </a:extLst>
          </p:cNvPr>
          <p:cNvSpPr/>
          <p:nvPr/>
        </p:nvSpPr>
        <p:spPr>
          <a:xfrm>
            <a:off x="2832100" y="330200"/>
            <a:ext cx="5511800" cy="241300"/>
          </a:xfrm>
          <a:custGeom>
            <a:avLst/>
            <a:gdLst>
              <a:gd name="connsiteX0" fmla="*/ 5511800 w 5511800"/>
              <a:gd name="connsiteY0" fmla="*/ 241300 h 241300"/>
              <a:gd name="connsiteX1" fmla="*/ 0 w 5511800"/>
              <a:gd name="connsiteY1" fmla="*/ 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11800" h="241300">
                <a:moveTo>
                  <a:pt x="5511800" y="241300"/>
                </a:move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241BBFC1-F62C-9A44-8D63-E69C8230BC5B}"/>
              </a:ext>
            </a:extLst>
          </p:cNvPr>
          <p:cNvGrpSpPr/>
          <p:nvPr/>
        </p:nvGrpSpPr>
        <p:grpSpPr>
          <a:xfrm>
            <a:off x="4518876" y="2223603"/>
            <a:ext cx="5415308" cy="1119104"/>
            <a:chOff x="4518876" y="2223603"/>
            <a:chExt cx="5415308" cy="1119104"/>
          </a:xfrm>
        </p:grpSpPr>
        <p:sp>
          <p:nvSpPr>
            <p:cNvPr id="300" name="Arc 299">
              <a:extLst>
                <a:ext uri="{FF2B5EF4-FFF2-40B4-BE49-F238E27FC236}">
                  <a16:creationId xmlns:a16="http://schemas.microsoft.com/office/drawing/2014/main" id="{673AD9B4-F419-404B-B3F8-71A1092F91BA}"/>
                </a:ext>
              </a:extLst>
            </p:cNvPr>
            <p:cNvSpPr/>
            <p:nvPr/>
          </p:nvSpPr>
          <p:spPr>
            <a:xfrm>
              <a:off x="4530830" y="2223604"/>
              <a:ext cx="5403354" cy="1119103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Arc 300">
              <a:extLst>
                <a:ext uri="{FF2B5EF4-FFF2-40B4-BE49-F238E27FC236}">
                  <a16:creationId xmlns:a16="http://schemas.microsoft.com/office/drawing/2014/main" id="{1A4EF995-6DB8-0C41-A25B-559A182E8A4D}"/>
                </a:ext>
              </a:extLst>
            </p:cNvPr>
            <p:cNvSpPr/>
            <p:nvPr/>
          </p:nvSpPr>
          <p:spPr>
            <a:xfrm flipH="1">
              <a:off x="4518876" y="2223603"/>
              <a:ext cx="5403354" cy="1119103"/>
            </a:xfrm>
            <a:prstGeom prst="arc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9ABC4CE-F648-E14D-A7BC-4F745CCFD04F}"/>
              </a:ext>
            </a:extLst>
          </p:cNvPr>
          <p:cNvGrpSpPr/>
          <p:nvPr/>
        </p:nvGrpSpPr>
        <p:grpSpPr>
          <a:xfrm>
            <a:off x="2652262" y="1788306"/>
            <a:ext cx="6752158" cy="3788575"/>
            <a:chOff x="2652262" y="1788306"/>
            <a:chExt cx="6752158" cy="3788575"/>
          </a:xfrm>
        </p:grpSpPr>
        <p:sp>
          <p:nvSpPr>
            <p:cNvPr id="303" name="Arc 302">
              <a:extLst>
                <a:ext uri="{FF2B5EF4-FFF2-40B4-BE49-F238E27FC236}">
                  <a16:creationId xmlns:a16="http://schemas.microsoft.com/office/drawing/2014/main" id="{E90F97E6-6149-CD44-AA9E-8F2C69364C9A}"/>
                </a:ext>
              </a:extLst>
            </p:cNvPr>
            <p:cNvSpPr/>
            <p:nvPr/>
          </p:nvSpPr>
          <p:spPr>
            <a:xfrm rot="5400000">
              <a:off x="5565538" y="3046644"/>
              <a:ext cx="914400" cy="4146073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6622722E-CE20-2D42-899F-0672817502E5}"/>
                </a:ext>
              </a:extLst>
            </p:cNvPr>
            <p:cNvSpPr/>
            <p:nvPr/>
          </p:nvSpPr>
          <p:spPr>
            <a:xfrm rot="16200000" flipH="1">
              <a:off x="4134379" y="306189"/>
              <a:ext cx="3787923" cy="6752158"/>
            </a:xfrm>
            <a:prstGeom prst="arc">
              <a:avLst>
                <a:gd name="adj1" fmla="val 16178998"/>
                <a:gd name="adj2" fmla="val 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83BF30BF-F7BE-C148-9341-9E2FEEEF4E80}"/>
              </a:ext>
            </a:extLst>
          </p:cNvPr>
          <p:cNvGrpSpPr/>
          <p:nvPr/>
        </p:nvGrpSpPr>
        <p:grpSpPr>
          <a:xfrm rot="5400000">
            <a:off x="7396889" y="2158054"/>
            <a:ext cx="6752158" cy="3906075"/>
            <a:chOff x="2652262" y="740931"/>
            <a:chExt cx="6752158" cy="4209792"/>
          </a:xfrm>
        </p:grpSpPr>
        <p:sp>
          <p:nvSpPr>
            <p:cNvPr id="307" name="Arc 306">
              <a:extLst>
                <a:ext uri="{FF2B5EF4-FFF2-40B4-BE49-F238E27FC236}">
                  <a16:creationId xmlns:a16="http://schemas.microsoft.com/office/drawing/2014/main" id="{6808A124-25CC-E340-8016-1018C2D79D55}"/>
                </a:ext>
              </a:extLst>
            </p:cNvPr>
            <p:cNvSpPr/>
            <p:nvPr/>
          </p:nvSpPr>
          <p:spPr>
            <a:xfrm rot="5400000" flipH="1">
              <a:off x="4875662" y="793669"/>
              <a:ext cx="2158234" cy="4146073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" name="Arc 307">
              <a:extLst>
                <a:ext uri="{FF2B5EF4-FFF2-40B4-BE49-F238E27FC236}">
                  <a16:creationId xmlns:a16="http://schemas.microsoft.com/office/drawing/2014/main" id="{EE1C96BF-18A2-334B-AC75-7817F73F473A}"/>
                </a:ext>
              </a:extLst>
            </p:cNvPr>
            <p:cNvSpPr/>
            <p:nvPr/>
          </p:nvSpPr>
          <p:spPr>
            <a:xfrm rot="16200000">
              <a:off x="4841501" y="-400932"/>
              <a:ext cx="2373680" cy="6752158"/>
            </a:xfrm>
            <a:prstGeom prst="arc">
              <a:avLst>
                <a:gd name="adj1" fmla="val 16178998"/>
                <a:gd name="adj2" fmla="val 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9" name="Arc 308">
              <a:extLst>
                <a:ext uri="{FF2B5EF4-FFF2-40B4-BE49-F238E27FC236}">
                  <a16:creationId xmlns:a16="http://schemas.microsoft.com/office/drawing/2014/main" id="{8787FB53-20B4-C242-AE53-58B2E9E3409C}"/>
                </a:ext>
              </a:extLst>
            </p:cNvPr>
            <p:cNvSpPr/>
            <p:nvPr/>
          </p:nvSpPr>
          <p:spPr>
            <a:xfrm rot="5400000">
              <a:off x="3796875" y="721279"/>
              <a:ext cx="4209792" cy="4249095"/>
            </a:xfrm>
            <a:prstGeom prst="arc">
              <a:avLst>
                <a:gd name="adj1" fmla="val 16200000"/>
                <a:gd name="adj2" fmla="val 1951695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1" name="TextBox 310">
            <a:extLst>
              <a:ext uri="{FF2B5EF4-FFF2-40B4-BE49-F238E27FC236}">
                <a16:creationId xmlns:a16="http://schemas.microsoft.com/office/drawing/2014/main" id="{B757ADED-0FF1-AB42-B5F6-D181D8B19EF2}"/>
              </a:ext>
            </a:extLst>
          </p:cNvPr>
          <p:cNvSpPr txBox="1"/>
          <p:nvPr/>
        </p:nvSpPr>
        <p:spPr>
          <a:xfrm>
            <a:off x="3242402" y="2189181"/>
            <a:ext cx="94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Perfect!</a:t>
            </a:r>
          </a:p>
        </p:txBody>
      </p:sp>
    </p:spTree>
    <p:extLst>
      <p:ext uri="{BB962C8B-B14F-4D97-AF65-F5344CB8AC3E}">
        <p14:creationId xmlns:p14="http://schemas.microsoft.com/office/powerpoint/2010/main" val="153096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2"/>
      <p:bldP spid="29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967E-1A4D-1B4F-84C0-8B9BB403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BB3A-7545-774D-A6D0-587ABAB3D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dirty="0"/>
              <a:t>0. Practice reproducible simulation science. </a:t>
            </a:r>
          </a:p>
          <a:p>
            <a:pPr marL="514350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Understand the processes and what is happening</a:t>
            </a:r>
          </a:p>
          <a:p>
            <a:pPr marL="514350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Plot a timestep history</a:t>
            </a:r>
          </a:p>
          <a:p>
            <a:pPr marL="514350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Rerun with “debug cells” and “verbosity level”=“high”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help yourself</a:t>
            </a:r>
          </a:p>
          <a:p>
            <a:pPr marL="514350" indent="-51435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How to ask for help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83AAB-89D7-B34B-B954-75A973B7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4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D379-40C0-624D-9280-E4BA231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reproducible simulation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2F98-4E00-654D-B120-FD7D0FC6C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control your input files, data, mesh, and scripts/notebooks.</a:t>
            </a:r>
          </a:p>
          <a:p>
            <a:r>
              <a:rPr lang="en-US" dirty="0"/>
              <a:t>Document them with a README.  Document code versions and scripts to visualize the results.</a:t>
            </a:r>
          </a:p>
          <a:p>
            <a:r>
              <a:rPr lang="en-US" dirty="0"/>
              <a:t>Checkpoint runs regularly (Annually?  Monthly?)</a:t>
            </a:r>
          </a:p>
          <a:p>
            <a:r>
              <a:rPr lang="en-US" dirty="0"/>
              <a:t>If you ask for help, we will</a:t>
            </a:r>
            <a:r>
              <a:rPr lang="en-US" i="1" dirty="0"/>
              <a:t> </a:t>
            </a:r>
            <a:r>
              <a:rPr lang="en-US" dirty="0"/>
              <a:t>ask you to send a link to your repo (and so will journals).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F842-979C-DE4A-9C67-56E129B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2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D379-40C0-624D-9280-E4BA231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reproducible simulation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2F98-4E00-654D-B120-FD7D0FC6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10515600" cy="4005333"/>
          </a:xfrm>
        </p:spPr>
        <p:txBody>
          <a:bodyPr>
            <a:no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data_raw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data_processed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01_spinup/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02_transient/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figures/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F842-979C-DE4A-9C67-56E129B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40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D379-40C0-624D-9280-E4BA231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reproducible simulation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2F98-4E00-654D-B120-FD7D0FC6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10515600" cy="400533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README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data_raw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DayMet_raw.nc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DEM.tif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data_processed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mesh.exo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DayMet_ATS.h5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</a:t>
            </a: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create_mesh.ipynb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process_DayMet.ipynb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01_spinup/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02_transient/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figures/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F842-979C-DE4A-9C67-56E129B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07C3F-A88E-F240-84ED-9A934B00CC4A}"/>
              </a:ext>
            </a:extLst>
          </p:cNvPr>
          <p:cNvSpPr txBox="1"/>
          <p:nvPr/>
        </p:nvSpPr>
        <p:spPr>
          <a:xfrm>
            <a:off x="5645426" y="1739165"/>
            <a:ext cx="5009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data, as downloaded from the original source, with sources in the README.  Note these can be omitted from the final submission for size constraints if DOIs are in order.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DBC13-71CC-4843-98D0-898BC9F4DF03}"/>
              </a:ext>
            </a:extLst>
          </p:cNvPr>
          <p:cNvSpPr txBox="1"/>
          <p:nvPr/>
        </p:nvSpPr>
        <p:spPr>
          <a:xfrm>
            <a:off x="5645426" y="3521532"/>
            <a:ext cx="5009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reformatted, smoothed, gap-filled, or otherwise processed for ATS.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73D30-4239-C442-A7FA-A6632AD436EB}"/>
              </a:ext>
            </a:extLst>
          </p:cNvPr>
          <p:cNvSpPr txBox="1"/>
          <p:nvPr/>
        </p:nvSpPr>
        <p:spPr>
          <a:xfrm>
            <a:off x="5645426" y="4596424"/>
            <a:ext cx="5009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scripts needed to go from raw to processed.  Follow good </a:t>
            </a:r>
            <a:r>
              <a:rPr lang="en-US" dirty="0" err="1"/>
              <a:t>Jupyter</a:t>
            </a:r>
            <a:r>
              <a:rPr lang="en-US" dirty="0"/>
              <a:t> notebook practices.</a:t>
            </a:r>
          </a:p>
          <a:p>
            <a:r>
              <a:rPr lang="en-US" dirty="0"/>
              <a:t>(Rule et al 2019; </a:t>
            </a:r>
            <a:r>
              <a:rPr lang="en-US" dirty="0">
                <a:hlinkClick r:id="rId2"/>
              </a:rPr>
              <a:t>10.1371/journal.pcbi.1007007</a:t>
            </a:r>
            <a:r>
              <a:rPr lang="en-US" dirty="0"/>
              <a:t> 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417190-2A36-B54E-8231-A012E2E6385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286539" y="2339330"/>
            <a:ext cx="23588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263090-A976-1F4B-AAD5-963DEA26C8C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644348" y="3844698"/>
            <a:ext cx="20010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DD6795-B007-DE43-A2A7-F52E670ADDB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65982" y="5058089"/>
            <a:ext cx="1179444" cy="149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70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D379-40C0-624D-9280-E4BA231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reproducible simulation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2F98-4E00-654D-B120-FD7D0FC6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10515600" cy="4005333"/>
          </a:xfrm>
        </p:spPr>
        <p:txBody>
          <a:bodyPr>
            <a:no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data_raw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data_processed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01_spinup/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spinup.xml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spinup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/{run-directory}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02_transient/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transient.xml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transient/{run-directory}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figures/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F842-979C-DE4A-9C67-56E129B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C2889-3F7D-B64A-A950-0F70E1542345}"/>
              </a:ext>
            </a:extLst>
          </p:cNvPr>
          <p:cNvSpPr txBox="1"/>
          <p:nvPr/>
        </p:nvSpPr>
        <p:spPr>
          <a:xfrm>
            <a:off x="6291470" y="3233530"/>
            <a:ext cx="46382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Runs grouped by concept.  May include multiple runs per directory (e.g. ensembles, scenarios, test cases), each run in their own subdirectory.  Save input file, observations from all runs; </a:t>
            </a:r>
            <a:r>
              <a:rPr lang="en-US" dirty="0" err="1"/>
              <a:t>downsample</a:t>
            </a:r>
            <a:r>
              <a:rPr lang="en-US" dirty="0"/>
              <a:t> checkpoints &amp; visualization as needed to re-generate figures.</a:t>
            </a:r>
          </a:p>
          <a:p>
            <a:endParaRPr lang="en-US" dirty="0"/>
          </a:p>
          <a:p>
            <a:r>
              <a:rPr lang="en-US" dirty="0"/>
              <a:t>Note, scripts provided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$ATS_SRC_DIR/tools/utils </a:t>
            </a:r>
            <a:r>
              <a:rPr lang="en-US" dirty="0"/>
              <a:t>to </a:t>
            </a:r>
            <a:r>
              <a:rPr lang="en-US" dirty="0" err="1"/>
              <a:t>downsample</a:t>
            </a:r>
            <a:r>
              <a:rPr lang="en-US" dirty="0"/>
              <a:t> visualization files.</a:t>
            </a:r>
          </a:p>
        </p:txBody>
      </p:sp>
    </p:spTree>
    <p:extLst>
      <p:ext uri="{BB962C8B-B14F-4D97-AF65-F5344CB8AC3E}">
        <p14:creationId xmlns:p14="http://schemas.microsoft.com/office/powerpoint/2010/main" val="226456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D379-40C0-624D-9280-E4BA2317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reproducible simulation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2F98-4E00-654D-B120-FD7D0FC6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8"/>
            <a:ext cx="10515600" cy="4005333"/>
          </a:xfrm>
        </p:spPr>
        <p:txBody>
          <a:bodyPr>
            <a:no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data_raw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data_processed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01_spinup/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02_transient/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figures/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figure1.py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figure1.pdf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F842-979C-DE4A-9C67-56E129BE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2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31F0-56BE-1846-B401-8521FDFD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E489A-6A61-8841-A60A-60AFB1748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the </a:t>
            </a:r>
            <a:r>
              <a:rPr lang="en-US" dirty="0" err="1"/>
              <a:t>Jupyter</a:t>
            </a:r>
            <a:r>
              <a:rPr lang="en-US" dirty="0"/>
              <a:t> notebook at: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ats-short-course/05_debugging/</a:t>
            </a:r>
            <a:r>
              <a:rPr lang="en-US" dirty="0" err="1"/>
              <a:t>debugging.ipynb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D926-6A9C-5646-9417-8D11A91D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1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19F49-543C-D24D-A6D8-4072AD5B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CC9F61D6-057F-D149-8539-A78B049D172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11185" y="75306"/>
            <a:ext cx="7360402" cy="39695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C285C-FF59-3D47-88E4-1CCB41D38BFA}"/>
              </a:ext>
            </a:extLst>
          </p:cNvPr>
          <p:cNvSpPr txBox="1"/>
          <p:nvPr/>
        </p:nvSpPr>
        <p:spPr>
          <a:xfrm>
            <a:off x="139849" y="193638"/>
            <a:ext cx="20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--verbosity=medium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C2762E-62A7-D147-BA44-09D64968CD63}"/>
              </a:ext>
            </a:extLst>
          </p:cNvPr>
          <p:cNvSpPr/>
          <p:nvPr/>
        </p:nvSpPr>
        <p:spPr>
          <a:xfrm>
            <a:off x="3216536" y="1775012"/>
            <a:ext cx="3774850" cy="62394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24705-302E-B242-A7D6-EFAC56F6ACA7}"/>
              </a:ext>
            </a:extLst>
          </p:cNvPr>
          <p:cNvSpPr txBox="1"/>
          <p:nvPr/>
        </p:nvSpPr>
        <p:spPr>
          <a:xfrm>
            <a:off x="11751" y="1775012"/>
            <a:ext cx="3252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“snow storage” solve succeeded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38561-CEF9-C342-93C9-D9B549B27A8A}"/>
              </a:ext>
            </a:extLst>
          </p:cNvPr>
          <p:cNvSpPr txBox="1"/>
          <p:nvPr/>
        </p:nvSpPr>
        <p:spPr>
          <a:xfrm>
            <a:off x="163511" y="3116145"/>
            <a:ext cx="31240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ErrorNorm</a:t>
            </a:r>
            <a:r>
              <a:rPr lang="en-US" dirty="0"/>
              <a:t> is a custom norm based on the conserved quantity.  It includes both absolute and relative terms and is always relative to the cell volume.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454723-F0E4-BA46-8514-FFEDBD94C0E7}"/>
              </a:ext>
            </a:extLst>
          </p:cNvPr>
          <p:cNvCxnSpPr>
            <a:cxnSpLocks/>
          </p:cNvCxnSpPr>
          <p:nvPr/>
        </p:nvCxnSpPr>
        <p:spPr>
          <a:xfrm flipV="1">
            <a:off x="3098202" y="2966208"/>
            <a:ext cx="1920592" cy="390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FDA392-BFD0-8244-A9AE-6BEB4739EE89}"/>
              </a:ext>
            </a:extLst>
          </p:cNvPr>
          <p:cNvSpPr txBox="1"/>
          <p:nvPr/>
        </p:nvSpPr>
        <p:spPr>
          <a:xfrm>
            <a:off x="3539266" y="4293248"/>
            <a:ext cx="1753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Inf-norm (max) of </a:t>
            </a:r>
            <a:r>
              <a:rPr lang="en-US" dirty="0" err="1"/>
              <a:t>ErrorNorm</a:t>
            </a:r>
            <a:r>
              <a:rPr lang="en-US" dirty="0"/>
              <a:t> on cells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BF8496-8604-8E4D-94FA-C36F90C61A60}"/>
              </a:ext>
            </a:extLst>
          </p:cNvPr>
          <p:cNvCxnSpPr>
            <a:cxnSpLocks/>
          </p:cNvCxnSpPr>
          <p:nvPr/>
        </p:nvCxnSpPr>
        <p:spPr>
          <a:xfrm flipV="1">
            <a:off x="4722607" y="3310925"/>
            <a:ext cx="1007632" cy="8581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B8AD5E-764B-C040-BB47-CAC616BDA315}"/>
              </a:ext>
            </a:extLst>
          </p:cNvPr>
          <p:cNvSpPr txBox="1"/>
          <p:nvPr/>
        </p:nvSpPr>
        <p:spPr>
          <a:xfrm>
            <a:off x="5730238" y="4310514"/>
            <a:ext cx="205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on which max error is attained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46E97E-795E-5742-9AA2-37C70C220076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6759387" y="3328192"/>
            <a:ext cx="937710" cy="982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86CD689-3B40-6141-8AF4-C17E51FA15A4}"/>
              </a:ext>
            </a:extLst>
          </p:cNvPr>
          <p:cNvSpPr txBox="1"/>
          <p:nvPr/>
        </p:nvSpPr>
        <p:spPr>
          <a:xfrm>
            <a:off x="8493517" y="4310514"/>
            <a:ext cx="147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of absolute error [mol]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FBD9F3-EED3-B745-8A20-B9B8635DCA13}"/>
              </a:ext>
            </a:extLst>
          </p:cNvPr>
          <p:cNvCxnSpPr>
            <a:cxnSpLocks/>
          </p:cNvCxnSpPr>
          <p:nvPr/>
        </p:nvCxnSpPr>
        <p:spPr>
          <a:xfrm flipH="1" flipV="1">
            <a:off x="8609881" y="3328192"/>
            <a:ext cx="321113" cy="982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1C392BA-072E-8B4D-8A41-DFE1E20730BC}"/>
              </a:ext>
            </a:extLst>
          </p:cNvPr>
          <p:cNvSpPr txBox="1"/>
          <p:nvPr/>
        </p:nvSpPr>
        <p:spPr>
          <a:xfrm>
            <a:off x="52136" y="2319877"/>
            <a:ext cx="3235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Starting the integrated “surface-subsurface” water solve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B64ED4-26B8-0744-BF4E-B92290C12E07}"/>
              </a:ext>
            </a:extLst>
          </p:cNvPr>
          <p:cNvCxnSpPr>
            <a:cxnSpLocks/>
          </p:cNvCxnSpPr>
          <p:nvPr/>
        </p:nvCxnSpPr>
        <p:spPr>
          <a:xfrm>
            <a:off x="2523453" y="2782895"/>
            <a:ext cx="74040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47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19F49-543C-D24D-A6D8-4072AD5B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CC9F61D6-057F-D149-8539-A78B049D172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11185" y="75306"/>
            <a:ext cx="7360402" cy="39695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C285C-FF59-3D47-88E4-1CCB41D38BFA}"/>
              </a:ext>
            </a:extLst>
          </p:cNvPr>
          <p:cNvSpPr txBox="1"/>
          <p:nvPr/>
        </p:nvSpPr>
        <p:spPr>
          <a:xfrm>
            <a:off x="139849" y="193638"/>
            <a:ext cx="20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--verbosity=medium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DA392-BFD0-8244-A9AE-6BEB4739EE89}"/>
              </a:ext>
            </a:extLst>
          </p:cNvPr>
          <p:cNvSpPr txBox="1"/>
          <p:nvPr/>
        </p:nvSpPr>
        <p:spPr>
          <a:xfrm>
            <a:off x="3173506" y="4740853"/>
            <a:ext cx="1753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Nonlinear iteration number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BF8496-8604-8E4D-94FA-C36F90C61A60}"/>
              </a:ext>
            </a:extLst>
          </p:cNvPr>
          <p:cNvCxnSpPr>
            <a:cxnSpLocks/>
          </p:cNvCxnSpPr>
          <p:nvPr/>
        </p:nvCxnSpPr>
        <p:spPr>
          <a:xfrm flipV="1">
            <a:off x="3935507" y="3881446"/>
            <a:ext cx="1007632" cy="8581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B8AD5E-764B-C040-BB47-CAC616BDA315}"/>
              </a:ext>
            </a:extLst>
          </p:cNvPr>
          <p:cNvSpPr txBox="1"/>
          <p:nvPr/>
        </p:nvSpPr>
        <p:spPr>
          <a:xfrm>
            <a:off x="5630998" y="5027197"/>
            <a:ext cx="44274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 error across all PKs being solved.</a:t>
            </a:r>
          </a:p>
          <a:p>
            <a:r>
              <a:rPr lang="en-US" dirty="0"/>
              <a:t>Timestep is “converged” when this is less than the nonlinear tolerance.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46E97E-795E-5742-9AA2-37C70C220076}"/>
              </a:ext>
            </a:extLst>
          </p:cNvPr>
          <p:cNvCxnSpPr>
            <a:cxnSpLocks/>
          </p:cNvCxnSpPr>
          <p:nvPr/>
        </p:nvCxnSpPr>
        <p:spPr>
          <a:xfrm flipH="1" flipV="1">
            <a:off x="6723529" y="3881447"/>
            <a:ext cx="113538" cy="11457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89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EAADF-7B38-6443-92B3-7D49D521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9F806664-D7CA-4E47-B9B1-5B55DFCDD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94" y="478403"/>
            <a:ext cx="9879106" cy="4781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AF3802-7DB5-184A-B090-82C1A6DC1855}"/>
              </a:ext>
            </a:extLst>
          </p:cNvPr>
          <p:cNvSpPr txBox="1"/>
          <p:nvPr/>
        </p:nvSpPr>
        <p:spPr>
          <a:xfrm>
            <a:off x="0" y="1452283"/>
            <a:ext cx="231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Capillary pressure very negative, no water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A24E8-2BC9-9D45-80B1-FAB079F1835B}"/>
              </a:ext>
            </a:extLst>
          </p:cNvPr>
          <p:cNvSpPr txBox="1"/>
          <p:nvPr/>
        </p:nvSpPr>
        <p:spPr>
          <a:xfrm>
            <a:off x="0" y="3429000"/>
            <a:ext cx="2312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Saturation at residual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636A1-A591-1440-B93C-E28AC1ED72B5}"/>
              </a:ext>
            </a:extLst>
          </p:cNvPr>
          <p:cNvSpPr txBox="1"/>
          <p:nvPr/>
        </p:nvSpPr>
        <p:spPr>
          <a:xfrm>
            <a:off x="0" y="4349931"/>
            <a:ext cx="231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[mol / s] is negative and nonzero (small isn’t good enough).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5D0B11-64BC-3E45-BDF4-8D23B0D9C1B0}"/>
              </a:ext>
            </a:extLst>
          </p:cNvPr>
          <p:cNvCxnSpPr>
            <a:cxnSpLocks/>
          </p:cNvCxnSpPr>
          <p:nvPr/>
        </p:nvCxnSpPr>
        <p:spPr>
          <a:xfrm>
            <a:off x="1996328" y="1911526"/>
            <a:ext cx="163975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3ADF79-0F67-A540-985E-42C72DBC4C1D}"/>
              </a:ext>
            </a:extLst>
          </p:cNvPr>
          <p:cNvCxnSpPr>
            <a:cxnSpLocks/>
          </p:cNvCxnSpPr>
          <p:nvPr/>
        </p:nvCxnSpPr>
        <p:spPr>
          <a:xfrm>
            <a:off x="2213274" y="3613027"/>
            <a:ext cx="134750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A9B93C-E3A1-0949-8988-DE05AFD84CA2}"/>
              </a:ext>
            </a:extLst>
          </p:cNvPr>
          <p:cNvCxnSpPr>
            <a:cxnSpLocks/>
          </p:cNvCxnSpPr>
          <p:nvPr/>
        </p:nvCxnSpPr>
        <p:spPr>
          <a:xfrm>
            <a:off x="1996328" y="4604523"/>
            <a:ext cx="1639757" cy="2686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3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1A48-BD0F-3449-BEE1-15D1E9FA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77" y="320041"/>
            <a:ext cx="11372473" cy="563231"/>
          </a:xfrm>
        </p:spPr>
        <p:txBody>
          <a:bodyPr>
            <a:normAutofit fontScale="90000"/>
          </a:bodyPr>
          <a:lstStyle/>
          <a:p>
            <a:r>
              <a:rPr lang="en-US" dirty="0"/>
              <a:t>Poor timestep size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5937E5-BF03-6448-9561-4FB18CABB3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855" b="1951"/>
          <a:stretch/>
        </p:blipFill>
        <p:spPr>
          <a:xfrm>
            <a:off x="254000" y="1900238"/>
            <a:ext cx="5842000" cy="38204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BF1621-A84E-D24E-AC2F-425CAD3B1E9C}"/>
              </a:ext>
            </a:extLst>
          </p:cNvPr>
          <p:cNvSpPr txBox="1"/>
          <p:nvPr/>
        </p:nvSpPr>
        <p:spPr>
          <a:xfrm>
            <a:off x="5892801" y="1712122"/>
            <a:ext cx="5933145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Small timesteps when: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Processes are fast (surface flow)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Forcing is fast (hourly data)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Physics is hard (</a:t>
            </a:r>
            <a:r>
              <a:rPr lang="en-US" sz="2800" dirty="0" err="1"/>
              <a:t>cryosuction</a:t>
            </a:r>
            <a:r>
              <a:rPr lang="en-US" sz="2800" dirty="0"/>
              <a:t>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i="1" dirty="0"/>
              <a:t>Model inconsistency (user error)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DE549-E3BC-7A47-BB10-F05155506741}"/>
              </a:ext>
            </a:extLst>
          </p:cNvPr>
          <p:cNvSpPr txBox="1"/>
          <p:nvPr/>
        </p:nvSpPr>
        <p:spPr>
          <a:xfrm>
            <a:off x="1661658" y="5908794"/>
            <a:ext cx="678698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i="1" dirty="0"/>
              <a:t>$&gt; python $ATS_SRC_DIR/tools/utils/</a:t>
            </a:r>
            <a:r>
              <a:rPr lang="en-US" i="1" dirty="0" err="1"/>
              <a:t>plot_timestep_history.py</a:t>
            </a:r>
            <a:r>
              <a:rPr lang="en-US" i="1" dirty="0"/>
              <a:t> </a:t>
            </a:r>
            <a:r>
              <a:rPr lang="en-US" i="1" dirty="0" err="1"/>
              <a:t>out.log</a:t>
            </a:r>
            <a:endParaRPr lang="en-US" i="1" dirty="0"/>
          </a:p>
          <a:p>
            <a:pPr algn="ctr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6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1A48-BD0F-3449-BEE1-15D1E9FA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77" y="320041"/>
            <a:ext cx="11372473" cy="563231"/>
          </a:xfrm>
        </p:spPr>
        <p:txBody>
          <a:bodyPr>
            <a:normAutofit fontScale="90000"/>
          </a:bodyPr>
          <a:lstStyle/>
          <a:p>
            <a:r>
              <a:rPr lang="en-US" dirty="0"/>
              <a:t>Poor timestep 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BF1621-A84E-D24E-AC2F-425CAD3B1E9C}"/>
              </a:ext>
            </a:extLst>
          </p:cNvPr>
          <p:cNvSpPr txBox="1"/>
          <p:nvPr/>
        </p:nvSpPr>
        <p:spPr>
          <a:xfrm>
            <a:off x="473652" y="883271"/>
            <a:ext cx="11109112" cy="629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Small timesteps when: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Processes are fast (surface flow)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>
                <a:solidFill>
                  <a:schemeClr val="accent1"/>
                </a:solidFill>
              </a:rPr>
              <a:t>Do you really need a small Manning coefficient (&lt;1)?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Forcing is fast (hourly data)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>
                <a:solidFill>
                  <a:schemeClr val="accent1"/>
                </a:solidFill>
              </a:rPr>
              <a:t>Do you really need to resolve the diurnal cycle?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Physics is hard (</a:t>
            </a:r>
            <a:r>
              <a:rPr lang="en-US" sz="2800" dirty="0" err="1"/>
              <a:t>cryosuction</a:t>
            </a:r>
            <a:r>
              <a:rPr lang="en-US" sz="2800" dirty="0"/>
              <a:t>)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>
                <a:solidFill>
                  <a:schemeClr val="accent1"/>
                </a:solidFill>
              </a:rPr>
              <a:t>Do you really need that process?</a:t>
            </a:r>
            <a:endParaRPr lang="en-US" sz="2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Model inconsistency (user error)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Model performance problem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 	</a:t>
            </a:r>
            <a:r>
              <a:rPr lang="en-US" sz="2800" i="1" dirty="0">
                <a:solidFill>
                  <a:schemeClr val="accent1"/>
                </a:solidFill>
              </a:rPr>
              <a:t>Can we smooth a transition between physics?</a:t>
            </a:r>
            <a:endParaRPr lang="en-US" sz="2800" dirty="0"/>
          </a:p>
          <a:p>
            <a:pPr>
              <a:lnSpc>
                <a:spcPct val="90000"/>
              </a:lnSpc>
            </a:pPr>
            <a:endParaRPr lang="en-US" sz="2800" i="1" dirty="0"/>
          </a:p>
          <a:p>
            <a:pPr>
              <a:lnSpc>
                <a:spcPct val="90000"/>
              </a:lnSpc>
            </a:pPr>
            <a:r>
              <a:rPr lang="en-US" sz="2800" i="1" dirty="0"/>
              <a:t>Timesteps of ~0.1 to 0.01 days are typical.  Less than this is atypical.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785B1-2EB1-9F4D-9A03-11AD515C05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33881" y="76493"/>
            <a:ext cx="774194" cy="105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10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A81B-43D1-C241-AFBC-ECCD4EEA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help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A7B9-907A-3E4F-9663-5F83DC1DC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Input spec problems: </a:t>
            </a:r>
            <a:r>
              <a:rPr lang="en-US" dirty="0"/>
              <a:t>Read the manual</a:t>
            </a:r>
          </a:p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amanzi.github.io</a:t>
            </a:r>
            <a:r>
              <a:rPr lang="en-US" dirty="0"/>
              <a:t>/ats/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Our goal: </a:t>
            </a:r>
            <a:r>
              <a:rPr lang="en-US" dirty="0"/>
              <a:t>any “invalid” input spec should result in an error message that hints at both what to fix and where to fix it.  </a:t>
            </a:r>
            <a:r>
              <a:rPr lang="en-US" i="1" dirty="0"/>
              <a:t>(We aren’t entirely there yet – send in examples of useless error messages!)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818BD-A969-8B45-A7B0-B03D910F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05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A81B-43D1-C241-AFBC-ECCD4EEA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help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A7B9-907A-3E4F-9663-5F83DC1DC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Start from a demo or test problem.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https://github.com/amanzi/ats-demos/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https://github.com/amanzi/ats-regression-tests/</a:t>
            </a:r>
            <a:endParaRPr lang="en-US" dirty="0"/>
          </a:p>
          <a:p>
            <a:r>
              <a:rPr lang="en-US" dirty="0"/>
              <a:t>If you find a broken demo problem, we will fix it.</a:t>
            </a:r>
          </a:p>
          <a:p>
            <a:r>
              <a:rPr lang="en-US" dirty="0"/>
              <a:t>If you can express your issue by changing a demo problem in a small way, we will help you sooner.</a:t>
            </a:r>
          </a:p>
          <a:p>
            <a:r>
              <a:rPr lang="en-US" dirty="0"/>
              <a:t>If you compare your change to a known answer, you may find your own mistake!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818BD-A969-8B45-A7B0-B03D910F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79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9ECE-DC41-BC43-8C11-977D6A92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B5D-8195-DD4A-837D-095071FA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Frequently Asked Questions: </a:t>
            </a:r>
            <a:r>
              <a:rPr lang="en-US" dirty="0">
                <a:hlinkClick r:id="rId2"/>
              </a:rPr>
              <a:t>https://github.com/amanzi/ats/wiki/FAQs</a:t>
            </a:r>
            <a:endParaRPr lang="en-US" dirty="0"/>
          </a:p>
          <a:p>
            <a:r>
              <a:rPr lang="en-US" dirty="0"/>
              <a:t>Ask the user's mailing list: </a:t>
            </a:r>
            <a:br>
              <a:rPr lang="en-US" dirty="0"/>
            </a:br>
            <a:r>
              <a:rPr lang="en-US" dirty="0">
                <a:hlinkClick r:id="rId3"/>
              </a:rPr>
              <a:t>ats-users@googlegroups.com</a:t>
            </a:r>
            <a:endParaRPr lang="en-US" dirty="0"/>
          </a:p>
          <a:p>
            <a:r>
              <a:rPr lang="en-US" dirty="0"/>
              <a:t>Submit a GitHub Issue: </a:t>
            </a:r>
            <a:r>
              <a:rPr lang="en-US" dirty="0">
                <a:hlinkClick r:id="rId4"/>
              </a:rPr>
              <a:t>https://github.com/amanzi/ats/issues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8E0E8-45A0-D744-B760-11B9A861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120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2220-0DD5-AF4B-B172-76FF05E3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</a:t>
            </a:r>
            <a:r>
              <a:rPr lang="en-US" i="1" dirty="0"/>
              <a:t>Better</a:t>
            </a:r>
            <a:r>
              <a:rPr lang="en-US" dirty="0"/>
              <a:t> Help…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F812-6448-984C-A2D2-F1329B035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Don’t be afraid to ask for help at conceptualization time.</a:t>
            </a:r>
          </a:p>
          <a:p>
            <a:r>
              <a:rPr lang="en-US" dirty="0"/>
              <a:t>Start from a demo and change one thing at a time.  If something breaks, back up and try again from the demo problem changing just the last thing.</a:t>
            </a:r>
          </a:p>
          <a:p>
            <a:r>
              <a:rPr lang="en-US" dirty="0"/>
              <a:t>Think critically about your problem and describe not just what is your problem but </a:t>
            </a:r>
            <a:r>
              <a:rPr lang="en-US" i="1" dirty="0"/>
              <a:t>why is your problem?</a:t>
            </a:r>
            <a:r>
              <a:rPr lang="en-US" dirty="0"/>
              <a:t>  What are you doing different from a demo problem?  </a:t>
            </a:r>
          </a:p>
          <a:p>
            <a:r>
              <a:rPr lang="en-US" dirty="0"/>
              <a:t>How to ask:</a:t>
            </a:r>
            <a:endParaRPr lang="en-US" dirty="0">
              <a:hlinkClick r:id="rId2"/>
            </a:endParaRPr>
          </a:p>
          <a:p>
            <a:pPr lvl="1"/>
            <a:r>
              <a:rPr lang="en-US" dirty="0">
                <a:hlinkClick r:id="rId2"/>
              </a:rPr>
              <a:t>https://stackoverflow.com/help/how-to-ask</a:t>
            </a:r>
            <a:endParaRPr lang="en-US" dirty="0"/>
          </a:p>
          <a:p>
            <a:pPr lvl="1"/>
            <a:r>
              <a:rPr lang="en-US" dirty="0"/>
              <a:t>What version of the code are you using?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ats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print_version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Reproduce it 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en-US" dirty="0"/>
              <a:t> or latest release.</a:t>
            </a:r>
          </a:p>
          <a:p>
            <a:pPr lvl="1"/>
            <a:r>
              <a:rPr lang="en-US" dirty="0"/>
              <a:t>Include all required input – mesh, forcing files, input data – and set it up to run out of the box (e.g. all paths are correct)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D0682-82CC-1E48-9893-62F83CE0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5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5285-E420-CB4B-B16C-0AB44F47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0E4CB-E068-634E-B33C-18536D97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354"/>
            <a:ext cx="10515600" cy="4516474"/>
          </a:xfrm>
        </p:spPr>
        <p:txBody>
          <a:bodyPr>
            <a:normAutofit/>
          </a:bodyPr>
          <a:lstStyle/>
          <a:p>
            <a:r>
              <a:rPr lang="en-US" sz="2400" dirty="0"/>
              <a:t>Healthy skepticism will serve you well</a:t>
            </a:r>
          </a:p>
          <a:p>
            <a:r>
              <a:rPr lang="en-US" sz="2400" dirty="0"/>
              <a:t>Mass balances and other simple heuristics are extremely valuable</a:t>
            </a:r>
          </a:p>
          <a:p>
            <a:r>
              <a:rPr lang="en-US" sz="2400" dirty="0"/>
              <a:t>Predict the answer – what is your hypothesis?</a:t>
            </a:r>
          </a:p>
          <a:p>
            <a:r>
              <a:rPr lang="en-US" sz="2400" dirty="0"/>
              <a:t>Visualize the answer – does it make sense?</a:t>
            </a:r>
          </a:p>
          <a:p>
            <a:r>
              <a:rPr lang="en-US" sz="2400" dirty="0"/>
              <a:t>If things break, dig into the details.  What is happening when and where the problem is occurring?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9F4BB-6D72-1A4A-A4CA-E8E02509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18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AEA1-E96B-F645-AD6B-FAF619840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Closing &amp; Wrap-Up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36D47-9ED6-CA4A-B77A-EFE589D22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4196069"/>
            <a:ext cx="6118914" cy="2714397"/>
          </a:xfrm>
        </p:spPr>
        <p:txBody>
          <a:bodyPr/>
          <a:lstStyle/>
          <a:p>
            <a:r>
              <a:rPr lang="en-US" sz="3000" dirty="0"/>
              <a:t>Ethan Coon</a:t>
            </a:r>
          </a:p>
          <a:p>
            <a:pPr>
              <a:spcBef>
                <a:spcPts val="1000"/>
              </a:spcBef>
            </a:pPr>
            <a:r>
              <a:rPr lang="en-US" dirty="0"/>
              <a:t>Oak Ridge National Laboratory</a:t>
            </a:r>
          </a:p>
        </p:txBody>
      </p:sp>
    </p:spTree>
    <p:extLst>
      <p:ext uri="{BB962C8B-B14F-4D97-AF65-F5344CB8AC3E}">
        <p14:creationId xmlns:p14="http://schemas.microsoft.com/office/powerpoint/2010/main" val="1937273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9A3D6-6B20-DC4B-85DA-E6524A5E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7710A-2856-6B43-A639-F48E8A9B7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CFA9A6-E59B-AD46-85E9-A9EC808E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AF6C63FE-64FA-AA4E-AA5E-E7C9CB44A1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299324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powerpoint/2016/slidezoom">
                <pslz:sldZm>
                  <pslz:sldZmObj sldId="261" cId="1650953259">
                    <pslz:zmPr id="{AFDAA8EF-77F0-BF43-B0F8-2CD118E9884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2000" cy="6858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F6C63FE-64FA-AA4E-AA5E-E7C9CB44A1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02731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C3D1-4F38-A243-B1E9-AD352F22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and Contribute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EF5A-A5E5-6644-92CB-A94F6C1C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533"/>
            <a:ext cx="10515600" cy="475262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en-US" dirty="0" err="1"/>
              <a:t>Amanzi</a:t>
            </a:r>
            <a:r>
              <a:rPr lang="en-US" dirty="0"/>
              <a:t>–ATS Users Group: </a:t>
            </a:r>
            <a:r>
              <a:rPr lang="en-US" sz="2600" dirty="0">
                <a:hlinkClick r:id="rId2"/>
              </a:rPr>
              <a:t>ats-users@googlegroups.com</a:t>
            </a:r>
            <a:endParaRPr lang="en-US" sz="2600" dirty="0"/>
          </a:p>
          <a:p>
            <a:pPr lvl="1"/>
            <a:r>
              <a:rPr lang="en-US" sz="2200" dirty="0">
                <a:hlinkClick r:id="rId3"/>
              </a:rPr>
              <a:t>https://groups.google.com/g/ats-users</a:t>
            </a:r>
            <a:endParaRPr lang="en-US" sz="2200" dirty="0"/>
          </a:p>
          <a:p>
            <a:pPr marL="0" indent="0">
              <a:spcBef>
                <a:spcPts val="2500"/>
              </a:spcBef>
              <a:buNone/>
            </a:pPr>
            <a:r>
              <a:rPr lang="en-US" dirty="0"/>
              <a:t>Source code, Wiki, Issue tracking</a:t>
            </a:r>
          </a:p>
          <a:p>
            <a:pPr lvl="1"/>
            <a:r>
              <a:rPr lang="en-US" dirty="0">
                <a:hlinkClick r:id="rId4"/>
              </a:rPr>
              <a:t>https://github.com/amanzi/amanzi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https://github.com/amanzi/ats</a:t>
            </a:r>
            <a:endParaRPr lang="en-US" dirty="0"/>
          </a:p>
          <a:p>
            <a:pPr marL="0" indent="0">
              <a:spcBef>
                <a:spcPts val="2500"/>
              </a:spcBef>
              <a:buNone/>
            </a:pPr>
            <a:r>
              <a:rPr lang="en-US" dirty="0"/>
              <a:t>Demos, Example problems, Tests</a:t>
            </a:r>
          </a:p>
          <a:p>
            <a:pPr lvl="1"/>
            <a:r>
              <a:rPr lang="en-US" dirty="0">
                <a:hlinkClick r:id="rId6"/>
              </a:rPr>
              <a:t>https://github.com/amanzi/ats-demos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https://github.com/amanzi/ats-regression-tests</a:t>
            </a:r>
            <a:endParaRPr lang="en-US" dirty="0"/>
          </a:p>
          <a:p>
            <a:pPr marL="0" indent="0">
              <a:spcBef>
                <a:spcPts val="2500"/>
              </a:spcBef>
              <a:buNone/>
            </a:pPr>
            <a:r>
              <a:rPr lang="en-US" dirty="0"/>
              <a:t>Users’ Guide, FAQs</a:t>
            </a:r>
          </a:p>
          <a:p>
            <a:pPr lvl="1"/>
            <a:r>
              <a:rPr lang="en-US" dirty="0">
                <a:hlinkClick r:id="rId8"/>
              </a:rPr>
              <a:t>https://amanzi.github.io/ats</a:t>
            </a:r>
            <a:endParaRPr lang="en-US" dirty="0"/>
          </a:p>
          <a:p>
            <a:pPr lvl="1"/>
            <a:r>
              <a:rPr lang="en-US" dirty="0">
                <a:hlinkClick r:id="rId9"/>
              </a:rPr>
              <a:t>https://github.com/amanzi/ats/wiki/FAQs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9A3D6-6B20-DC4B-85DA-E6524A5E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5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anzi_ats_template" id="{0B4802C3-36D6-A64E-85F1-670AD8715117}" vid="{661FB5CB-DFF2-C64F-AAD0-A836A698B0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25841</TotalTime>
  <Words>1285</Words>
  <Application>Microsoft Macintosh PowerPoint</Application>
  <PresentationFormat>Widescreen</PresentationFormat>
  <Paragraphs>189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Candara</vt:lpstr>
      <vt:lpstr>Courier New</vt:lpstr>
      <vt:lpstr>Verdana</vt:lpstr>
      <vt:lpstr>Office Theme</vt:lpstr>
      <vt:lpstr>Debugging &amp; Getting Help</vt:lpstr>
      <vt:lpstr>Debugging</vt:lpstr>
      <vt:lpstr>PowerPoint Presentation</vt:lpstr>
      <vt:lpstr>Debugging</vt:lpstr>
      <vt:lpstr>Practice reproducible simulation science</vt:lpstr>
      <vt:lpstr>Practice reproducible simulation science</vt:lpstr>
      <vt:lpstr>Practice reproducible simulation science</vt:lpstr>
      <vt:lpstr>Practice reproducible simulation science</vt:lpstr>
      <vt:lpstr>Practice reproducible simulation science</vt:lpstr>
      <vt:lpstr>Jupyter Notebook</vt:lpstr>
      <vt:lpstr>PowerPoint Presentation</vt:lpstr>
      <vt:lpstr>PowerPoint Presentation</vt:lpstr>
      <vt:lpstr>PowerPoint Presentation</vt:lpstr>
      <vt:lpstr>Poor timestep size</vt:lpstr>
      <vt:lpstr>Poor timestep size</vt:lpstr>
      <vt:lpstr>How to help yourself</vt:lpstr>
      <vt:lpstr>How to help yourself</vt:lpstr>
      <vt:lpstr>How to get Help</vt:lpstr>
      <vt:lpstr>How to get Better Help…</vt:lpstr>
      <vt:lpstr>Debugging</vt:lpstr>
      <vt:lpstr>Closing &amp; Wrap-Up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 Course – Sept 1&amp;2, 2021</dc:title>
  <dc:creator>Coon, Ethan</dc:creator>
  <cp:lastModifiedBy>Coon, Ethan</cp:lastModifiedBy>
  <cp:revision>50</cp:revision>
  <dcterms:created xsi:type="dcterms:W3CDTF">2021-08-09T13:15:09Z</dcterms:created>
  <dcterms:modified xsi:type="dcterms:W3CDTF">2025-09-07T19:53:21Z</dcterms:modified>
</cp:coreProperties>
</file>